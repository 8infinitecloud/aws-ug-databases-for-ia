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ags/tag1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27" r:id="rId2"/>
  </p:sldMasterIdLst>
  <p:notesMasterIdLst>
    <p:notesMasterId r:id="rId25"/>
  </p:notesMasterIdLst>
  <p:sldIdLst>
    <p:sldId id="546" r:id="rId3"/>
    <p:sldId id="258" r:id="rId4"/>
    <p:sldId id="582" r:id="rId5"/>
    <p:sldId id="547" r:id="rId6"/>
    <p:sldId id="535" r:id="rId7"/>
    <p:sldId id="602" r:id="rId8"/>
    <p:sldId id="589" r:id="rId9"/>
    <p:sldId id="603" r:id="rId10"/>
    <p:sldId id="604" r:id="rId11"/>
    <p:sldId id="605" r:id="rId12"/>
    <p:sldId id="617" r:id="rId13"/>
    <p:sldId id="608" r:id="rId14"/>
    <p:sldId id="583" r:id="rId15"/>
    <p:sldId id="611" r:id="rId16"/>
    <p:sldId id="609" r:id="rId17"/>
    <p:sldId id="618" r:id="rId18"/>
    <p:sldId id="619" r:id="rId19"/>
    <p:sldId id="584" r:id="rId20"/>
    <p:sldId id="620" r:id="rId21"/>
    <p:sldId id="587" r:id="rId22"/>
    <p:sldId id="585" r:id="rId23"/>
    <p:sldId id="600" r:id="rId2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E059F9E-C46A-B547-B2F2-24DE96B4FEB2}">
          <p14:sldIdLst>
            <p14:sldId id="546"/>
            <p14:sldId id="258"/>
            <p14:sldId id="582"/>
            <p14:sldId id="547"/>
            <p14:sldId id="535"/>
            <p14:sldId id="602"/>
            <p14:sldId id="589"/>
            <p14:sldId id="603"/>
            <p14:sldId id="604"/>
            <p14:sldId id="605"/>
            <p14:sldId id="617"/>
            <p14:sldId id="608"/>
            <p14:sldId id="583"/>
            <p14:sldId id="611"/>
            <p14:sldId id="609"/>
            <p14:sldId id="618"/>
            <p14:sldId id="619"/>
            <p14:sldId id="584"/>
            <p14:sldId id="620"/>
            <p14:sldId id="587"/>
            <p14:sldId id="585"/>
            <p14:sldId id="6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44">
          <p15:clr>
            <a:srgbClr val="A4A3A4"/>
          </p15:clr>
        </p15:guide>
        <p15:guide id="2" pos="1872">
          <p15:clr>
            <a:srgbClr val="A4A3A4"/>
          </p15:clr>
        </p15:guide>
        <p15:guide id="3" pos="4176">
          <p15:clr>
            <a:srgbClr val="A4A3A4"/>
          </p15:clr>
        </p15:guide>
        <p15:guide id="4" pos="5496">
          <p15:clr>
            <a:srgbClr val="A4A3A4"/>
          </p15:clr>
        </p15:guide>
        <p15:guide id="5" orient="horz" pos="1224">
          <p15:clr>
            <a:srgbClr val="A4A3A4"/>
          </p15:clr>
        </p15:guide>
        <p15:guide id="6" orient="horz" pos="3624">
          <p15:clr>
            <a:srgbClr val="A4A3A4"/>
          </p15:clr>
        </p15:guide>
        <p15:guide id="7" orient="horz" pos="20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8428B0-A610-6AC2-1E30-1B1B2D72BE2B}" name="Knott, Candy [C]" initials="KC[" userId="Knott, Candy [C]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20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Papadakis Kantos, Yianna" initials="PKY" lastIdx="4" clrIdx="1">
    <p:extLst>
      <p:ext uri="{19B8F6BF-5375-455C-9EA6-DF929625EA0E}">
        <p15:presenceInfo xmlns:p15="http://schemas.microsoft.com/office/powerpoint/2012/main" userId="Papadakis Kantos, Yian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344C"/>
    <a:srgbClr val="232F3E"/>
    <a:srgbClr val="01A88D"/>
    <a:srgbClr val="7AA116"/>
    <a:srgbClr val="ED7100"/>
    <a:srgbClr val="E7157B"/>
    <a:srgbClr val="C925D1"/>
    <a:srgbClr val="8C4FFF"/>
    <a:srgbClr val="9BA7B6"/>
    <a:srgbClr val="8FA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94"/>
    <p:restoredTop sz="96966" autoAdjust="0"/>
  </p:normalViewPr>
  <p:slideViewPr>
    <p:cSldViewPr snapToGrid="0" snapToObjects="1">
      <p:cViewPr varScale="1">
        <p:scale>
          <a:sx n="140" d="100"/>
          <a:sy n="140" d="100"/>
        </p:scale>
        <p:origin x="216" y="520"/>
      </p:cViewPr>
      <p:guideLst>
        <p:guide orient="horz" pos="744"/>
        <p:guide pos="1872"/>
        <p:guide pos="4176"/>
        <p:guide pos="5496"/>
        <p:guide orient="horz" pos="1224"/>
        <p:guide orient="horz" pos="3624"/>
        <p:guide orient="horz" pos="2040"/>
      </p:guideLst>
    </p:cSldViewPr>
  </p:slideViewPr>
  <p:outlineViewPr>
    <p:cViewPr>
      <p:scale>
        <a:sx n="33" d="100"/>
        <a:sy n="33" d="100"/>
      </p:scale>
      <p:origin x="0" y="-26528"/>
    </p:cViewPr>
  </p:outlin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B57746-A217-1840-9D27-1C9B611FF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C0457-C9C0-9A46-856C-A75642660D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0E765C1-43CC-5C46-8694-A6B828DEC430}" type="datetimeFigureOut">
              <a:rPr lang="en-US"/>
              <a:pPr>
                <a:defRPr/>
              </a:pPr>
              <a:t>5/25/26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3DE939-5167-8149-9C39-EBF3DB40E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8179A7E-0011-7C47-A00A-3553ADFC2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921AA-9F8D-2644-BA51-99C00524A9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1767E-EE09-594B-90B8-F1B2D1E51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48E93DF-EC4A-7C45-AB6A-FC63BC432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8E93DF-EC4A-7C45-AB6A-FC63BC432F2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9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92DFA2-7EEB-8C00-E73B-389E1BA79C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96462" y="6289500"/>
            <a:ext cx="3743940" cy="365125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A3564EC-CE50-1549-B5F0-E1519DE3E6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76506"/>
            <a:ext cx="9131476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0BA1EB2-0EC6-804A-B029-2483E6FB35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19" y="3940166"/>
            <a:ext cx="9131475" cy="523220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274FB34-318A-7EC2-D2EE-4682179F2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502" y="586154"/>
            <a:ext cx="640514" cy="38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31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78B4B-8B58-E813-961C-064BC40AF8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4963816-3C9D-6054-6D89-CCC3057C1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D318C5-3473-9969-88C2-50B0064238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50435"/>
            <a:ext cx="6733877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36C7969-22B7-9E94-E270-5F3C7A19AA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20" y="3914095"/>
            <a:ext cx="6733876" cy="523220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185351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's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F8ABA-AA73-6F33-8CE3-7BA8AC03293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E30FD-1024-73E5-DDAE-CABD5B7F85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9AE35381-62E7-8B45-DF09-9D52F4A458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0584" y="1149350"/>
            <a:ext cx="11710116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64D7CAF-E305-EFB7-1D4C-FC4028A019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2273300"/>
            <a:ext cx="3602038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15E9AF3-0F43-A8C7-9D9A-24B5C30D6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4188" y="2273300"/>
            <a:ext cx="3603625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A81135-55B4-1CE3-4AAE-80204E5A91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26438" y="2273300"/>
            <a:ext cx="3602037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23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7105B5-A94F-CB29-5056-0F6BFD63F0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1176338"/>
            <a:ext cx="11709400" cy="4725987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B2C22-9842-790F-7012-5D5CBEC71E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86CD2-EE78-2625-5844-0B9890040E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584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hre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968E4-5FE5-20AF-7B20-87717025E7D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04F5B-AFFD-54FC-FAC0-F04384E1793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00D87FF-D51B-E8F3-39CF-9AEBFC357D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0584" y="1149350"/>
            <a:ext cx="11710116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60269A-F2FF-A7E2-AD9F-9F08204AC6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1300" y="2273300"/>
            <a:ext cx="3602038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313B1EB-2063-E608-080C-CD55735352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94188" y="2273300"/>
            <a:ext cx="3603625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2F4C55E-AD63-A918-ED20-BC3E307C2D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26438" y="2273300"/>
            <a:ext cx="3602037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4609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hre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DAC01-332B-D637-56B5-4AFC25E11DE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19175-8EDF-5D9C-33EC-C8E2A1976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4F389A0-9950-789A-55A2-79B1DF20A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300" y="1176338"/>
            <a:ext cx="3602038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5A0F7C1-4F18-7077-33D5-3CBBB08D3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94188" y="1176338"/>
            <a:ext cx="3603625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F26E50D-1254-9591-B5D4-BEC8293AB0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6438" y="1176338"/>
            <a:ext cx="3602037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490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500AE-6766-41B0-C029-EAE84059B5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A64CF-48E8-5FFF-28D2-E0495E1D7A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10A7AB1-FFCC-A45F-8D25-303B6F2A27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1149350"/>
            <a:ext cx="11709400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810F906-2DEE-3C9E-A8D5-9575D7745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1300" y="2273300"/>
            <a:ext cx="5668963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F64ED81-5108-F3B8-4DD7-6ECCF59D78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1738" y="2273300"/>
            <a:ext cx="5668962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7936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65833-E42A-E620-7D83-55DACDE251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F9A05-AD0B-20A1-596D-C0BA3D1F17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B56554-52F1-D18F-5827-F007C7E9F5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300" y="1176338"/>
            <a:ext cx="5668963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AB646E-8298-41D3-BEB1-D7F0A7609C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1738" y="1176338"/>
            <a:ext cx="5668962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437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22F17-7061-DBE6-40F0-4CE0A9CEF9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A7B6E1-BAB1-B598-78E0-7F84FE2364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7105B5-A94F-CB29-5056-0F6BFD63F0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1176338"/>
            <a:ext cx="11709400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5489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36402-0D38-2FE6-DABB-84869F8B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5F2C0-30F8-DAE1-A01A-A77FC537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514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4A4BE7-29FE-EC65-CE2C-3F4AEC50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80BA3-E490-7BB8-44E4-2563732C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76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quid slide border color.">
            <a:extLst>
              <a:ext uri="{FF2B5EF4-FFF2-40B4-BE49-F238E27FC236}">
                <a16:creationId xmlns:a16="http://schemas.microsoft.com/office/drawing/2014/main" id="{061DB949-1463-2A4C-B301-63F1602C50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6BC82-2752-FE77-7E7B-D40EB348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A0474-8FF5-26D4-FF3B-B8AA251B0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2913E6-E833-A35B-D52D-6FC43B3AA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02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background">
            <a:extLst>
              <a:ext uri="{FF2B5EF4-FFF2-40B4-BE49-F238E27FC236}">
                <a16:creationId xmlns:a16="http://schemas.microsoft.com/office/drawing/2014/main" id="{E55DBD91-59FF-4653-822D-8AD6FCA29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DBF48-0EFD-7E4F-AAF0-AB1C4877B680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1388B4C-0BAF-3342-B4C4-F8F3835171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General Services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1589A14A-BBCF-BC41-8E4A-D55A4B8E1B3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13BDA1A-1CBB-8E43-A453-55D625CBA0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Squid slide border color.">
            <a:extLst>
              <a:ext uri="{FF2B5EF4-FFF2-40B4-BE49-F238E27FC236}">
                <a16:creationId xmlns:a16="http://schemas.microsoft.com/office/drawing/2014/main" id="{9DE7E60F-0E8F-E845-A30E-6D51DFDCF24C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6C5E90-B6A0-C44C-5B33-1A7116573C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1ECED-EA93-EF92-CE3E-5CCF21835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94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ly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quid slide border color.">
            <a:extLst>
              <a:ext uri="{FF2B5EF4-FFF2-40B4-BE49-F238E27FC236}">
                <a16:creationId xmlns:a16="http://schemas.microsoft.com/office/drawing/2014/main" id="{8E5D3566-EC15-634D-A5DB-D8659E8B1D53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67BF2-F07F-5F3F-475C-95CD1798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A02FF-B2B6-C57F-26B1-0DD331F6C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315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Galaxy slide border color.">
            <a:extLst>
              <a:ext uri="{FF2B5EF4-FFF2-40B4-BE49-F238E27FC236}">
                <a16:creationId xmlns:a16="http://schemas.microsoft.com/office/drawing/2014/main" id="{0AEB10B3-8C08-7244-A574-BA85CB778D8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5EDD2-E77A-C2D7-DFD4-A448A9D8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E0B2-F3AA-6FBC-AD07-99EDAC6C0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C323C8-2085-5822-7923-7CF461743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812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ground">
            <a:extLst>
              <a:ext uri="{FF2B5EF4-FFF2-40B4-BE49-F238E27FC236}">
                <a16:creationId xmlns:a16="http://schemas.microsoft.com/office/drawing/2014/main" id="{24165E9F-88A0-4663-BF3D-968B84D75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1F4C99-54C2-9541-8F43-762C964F1301}"/>
                </a:ext>
              </a:extLst>
            </p:cNvPr>
            <p:cNvSpPr/>
            <p:nvPr userDrawn="1"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" name="servIcons">
              <a:extLst>
                <a:ext uri="{FF2B5EF4-FFF2-40B4-BE49-F238E27FC236}">
                  <a16:creationId xmlns:a16="http://schemas.microsoft.com/office/drawing/2014/main" id="{4A10370E-4F42-8241-BF9F-E9A72893ED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7" name="resourceIcons">
              <a:extLst>
                <a:ext uri="{FF2B5EF4-FFF2-40B4-BE49-F238E27FC236}">
                  <a16:creationId xmlns:a16="http://schemas.microsoft.com/office/drawing/2014/main" id="{E12F472C-8CA3-7949-8253-63E2F46D34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2AB3EF-8D29-0347-A0F4-5A920F8D6324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 descr="Galaxy slide border color.">
            <a:extLst>
              <a:ext uri="{FF2B5EF4-FFF2-40B4-BE49-F238E27FC236}">
                <a16:creationId xmlns:a16="http://schemas.microsoft.com/office/drawing/2014/main" id="{468A9567-E554-3010-2A38-DF450DDFF98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FA43EF-49E4-74BC-21F0-D41D27599C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C1FD56-C45F-424C-E9DB-ED23FAE2B3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909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ly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Galaxy slide border color.">
            <a:extLst>
              <a:ext uri="{FF2B5EF4-FFF2-40B4-BE49-F238E27FC236}">
                <a16:creationId xmlns:a16="http://schemas.microsoft.com/office/drawing/2014/main" id="{AFF7784A-AC38-A14C-8390-9F3D6CB22C2B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7EB7E-691A-4FE3-71DE-02772BF286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5F89A6-18DC-5D54-AD1E-DB0457474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 descr="Violet border.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69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Cosmo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Cosmos slide border color.">
            <a:extLst>
              <a:ext uri="{FF2B5EF4-FFF2-40B4-BE49-F238E27FC236}">
                <a16:creationId xmlns:a16="http://schemas.microsoft.com/office/drawing/2014/main" id="{92051C7E-3900-3D47-BA06-C45A775AC5C5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BC9C4-5B16-0446-1707-A098531C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5DDB9-D31A-2698-9E06-EDBA42040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FB4B64-1C05-8022-8062-CE396DA9A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7397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Cosmo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D640936-4DFF-42C0-83B1-59DF52458828}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487056-54C9-3C44-8A0E-E8A0308AD2EC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69FAB93-C1F2-A245-90B4-C96C9D1826D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F0D628E-4994-3E4C-AFDD-4A6F01ABA79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483B396-C225-9E4D-8732-D5FC98F01E48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Cosmos slide border color.">
            <a:extLst>
              <a:ext uri="{FF2B5EF4-FFF2-40B4-BE49-F238E27FC236}">
                <a16:creationId xmlns:a16="http://schemas.microsoft.com/office/drawing/2014/main" id="{95DB3A17-29D7-3A45-ACDB-C1245E165449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1C9672-9F35-D403-7E93-A3EAF1A26E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0CF192-8158-0693-458E-D0BD5278E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486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Endor slide border color.">
            <a:extLst>
              <a:ext uri="{FF2B5EF4-FFF2-40B4-BE49-F238E27FC236}">
                <a16:creationId xmlns:a16="http://schemas.microsoft.com/office/drawing/2014/main" id="{5573C5A5-FEA2-6F41-A1B4-E8FDB998D4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76095-762D-BE68-015D-91DF4C45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E23E1-65D3-108F-B7F0-D0FA7F50C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4B0985-E6AB-7E04-B155-7041E5076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597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background">
            <a:extLst>
              <a:ext uri="{FF2B5EF4-FFF2-40B4-BE49-F238E27FC236}">
                <a16:creationId xmlns:a16="http://schemas.microsoft.com/office/drawing/2014/main" id="{FE73D7B2-348F-4CAE-9CCC-8E93AFD97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9" cy="4913313"/>
            <a:chOff x="0" y="1009650"/>
            <a:chExt cx="12191999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512C27-F57D-C04D-8C2E-2FBCFAEFE9E8}"/>
                </a:ext>
              </a:extLst>
            </p:cNvPr>
            <p:cNvSpPr/>
            <p:nvPr userDrawn="1"/>
          </p:nvSpPr>
          <p:spPr>
            <a:xfrm>
              <a:off x="0" y="1009650"/>
              <a:ext cx="12191999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0B215-B435-A046-AB52-3AC5CD6CB09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BB3FCFCA-86E9-6843-BBC5-696B46773C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0F07F7-0ACA-744C-8676-DDDFF0EDD79A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9AB1F7AC-1D02-F24E-80FB-3513723974A8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42A501-CFBB-7A93-52F3-AB8E94687A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2BE29-5008-2D62-A19B-811CC5BEDF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2720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-Class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51DF3A4-48ED-4CD2-9513-7E2C8A63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46AA92-8B71-8343-AF02-BAEECFD8F9E8}"/>
                </a:ext>
              </a:extLst>
            </p:cNvPr>
            <p:cNvSpPr/>
            <p:nvPr userDrawn="1"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C66A8FD4-AEDF-F246-ACD7-A4642BCCBD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A6DB7508-B76E-E744-9C55-9282869366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Storage Classes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7DB5F5-A7AF-224D-AD0A-3017FEAC6807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D41A0A26-7D8D-E34A-A375-337900A8134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7A0009A-07A1-B192-98C1-30731D62BA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A8E09-3949-0C42-F238-4E96EA21F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458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orage-Class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51DF3A4-48ED-4CD2-9513-7E2C8A63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46AA92-8B71-8343-AF02-BAEECFD8F9E8}"/>
                </a:ext>
              </a:extLst>
            </p:cNvPr>
            <p:cNvSpPr/>
            <p:nvPr userDrawn="1"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C66A8FD4-AEDF-F246-ACD7-A4642BCCBD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A6DB7508-B76E-E744-9C55-9282869366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Storage Classes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7DB5F5-A7AF-224D-AD0A-3017FEAC6807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0EE8DD8F-3E33-DE49-A6C4-85510AAE51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44196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D41A0A26-7D8D-E34A-A375-337900A8134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7A0009A-07A1-B192-98C1-30731D62BA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A8E09-3949-0C42-F238-4E96EA21F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882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T-Resourc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DED0519-3CA3-4613-B9CF-C882D1FC70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BCC60938-B1D7-7642-B1A2-9236489D4F1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IoT Resources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42122E-0449-9146-A319-D11DF60C4F51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Endor slide border color.">
            <a:extLst>
              <a:ext uri="{FF2B5EF4-FFF2-40B4-BE49-F238E27FC236}">
                <a16:creationId xmlns:a16="http://schemas.microsoft.com/office/drawing/2014/main" id="{4C2C7E85-0D8D-A349-9C99-2B876764A29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692BB6-3B05-1293-CC06-6FDE345501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97408-F4F0-7E99-C730-19F388F4D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293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T-Thing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ckground">
            <a:extLst>
              <a:ext uri="{FF2B5EF4-FFF2-40B4-BE49-F238E27FC236}">
                <a16:creationId xmlns:a16="http://schemas.microsoft.com/office/drawing/2014/main" id="{07052761-18F4-4F17-9791-EFBDB99E3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63DE121C-6773-A942-87BC-F4D427316A9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IoT Things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0F07151-3D39-D647-9EC4-468CD7515165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Endor slide border color.">
            <a:extLst>
              <a:ext uri="{FF2B5EF4-FFF2-40B4-BE49-F238E27FC236}">
                <a16:creationId xmlns:a16="http://schemas.microsoft.com/office/drawing/2014/main" id="{4758A11D-69A8-0C48-B5B1-2F07EB49825B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D450F-B073-2724-EFAB-1458FF83F7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B9F3D-6443-1422-0F09-2FC88B7055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96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mile slide border color.">
            <a:extLst>
              <a:ext uri="{FF2B5EF4-FFF2-40B4-BE49-F238E27FC236}">
                <a16:creationId xmlns:a16="http://schemas.microsoft.com/office/drawing/2014/main" id="{04734F41-1E91-BB44-8DB4-8C7590A467B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EA197-D7E8-786F-1AA3-1FACE65C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D418F-7ECB-AD5F-D0C7-A97A14505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7719DA-11C0-89F7-1183-23DEE88B9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29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A5E7D35-EF2F-4930-9869-E75AEBD7B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F773F9-4F99-D942-BEBB-1593505C68C1}"/>
                </a:ext>
              </a:extLst>
            </p:cNvPr>
            <p:cNvSpPr/>
            <p:nvPr userDrawn="1"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AF5CCA0-0690-374D-8772-DEF02BD7F54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BC98EB3-F74A-FD47-AF5D-6FDD457384E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DEDFC34-7FFC-F543-BA55-50C9C7C48B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Smile slide border color.">
            <a:extLst>
              <a:ext uri="{FF2B5EF4-FFF2-40B4-BE49-F238E27FC236}">
                <a16:creationId xmlns:a16="http://schemas.microsoft.com/office/drawing/2014/main" id="{D97EA81C-3417-9A44-BB8E-31157C34FEB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52EE44F-067B-DDFC-C61E-4E44544741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A7C87C-AFEA-994A-5677-D6E0BF66DF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3481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_Instances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background">
            <a:extLst>
              <a:ext uri="{FF2B5EF4-FFF2-40B4-BE49-F238E27FC236}">
                <a16:creationId xmlns:a16="http://schemas.microsoft.com/office/drawing/2014/main" id="{2450AE92-541C-4A10-B87D-AD0EB3F76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9" cy="4913313"/>
            <a:chOff x="0" y="1009650"/>
            <a:chExt cx="12191999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F41C06-25C4-FE46-A47C-4B60AE628A89}"/>
                </a:ext>
              </a:extLst>
            </p:cNvPr>
            <p:cNvSpPr/>
            <p:nvPr userDrawn="1"/>
          </p:nvSpPr>
          <p:spPr>
            <a:xfrm>
              <a:off x="0" y="1009650"/>
              <a:ext cx="12191999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98499298-BDCA-EC42-BE59-1F8672E525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61EB6ED-D795-1747-A446-1C4C0434D81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378119F-F6F8-D44F-8ABE-419D35451573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FE489E1A-1BF1-F242-86E2-9807F29A1BE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4049487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Instances</a:t>
              </a:r>
            </a:p>
          </p:txBody>
        </p:sp>
      </p:grpSp>
      <p:sp>
        <p:nvSpPr>
          <p:cNvPr id="8" name="Rectangle 7" descr="Smile slide border color.">
            <a:extLst>
              <a:ext uri="{FF2B5EF4-FFF2-40B4-BE49-F238E27FC236}">
                <a16:creationId xmlns:a16="http://schemas.microsoft.com/office/drawing/2014/main" id="{8B257808-C612-7942-9E1F-FF677A089C7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181C349-28A5-9EA2-5AD9-07AE81A15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D6D495-0407-CD1E-7CF2-B5727772E0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568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Mar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Mars slide border color.">
            <a:extLst>
              <a:ext uri="{FF2B5EF4-FFF2-40B4-BE49-F238E27FC236}">
                <a16:creationId xmlns:a16="http://schemas.microsoft.com/office/drawing/2014/main" id="{687C9EBA-6CEA-D94E-918D-9DD6990AE6A3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DD3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8E266-EB39-0A9E-C76A-053B4434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7B292-2800-583D-9EDE-02771F816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344EBE-C5DD-42C9-0773-5EF031398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511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Mar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EB4FE19-FF32-41DE-A8E0-B4805BD9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E300FE-0BEC-454E-9226-4BF426763D48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4C2F67B6-6C8E-C641-86AA-C2F4428DDF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8BBDD403-20C7-4B41-9D7D-4F367D174F2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71A8823-AC99-5D48-BD49-9E36441E3815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Mars slide border color.">
            <a:extLst>
              <a:ext uri="{FF2B5EF4-FFF2-40B4-BE49-F238E27FC236}">
                <a16:creationId xmlns:a16="http://schemas.microsoft.com/office/drawing/2014/main" id="{BB803129-AEB7-3747-880F-67B9DA5EADC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DD3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43F37E-BEB7-9CA9-4E15-9F6907D9A5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F7325-7C1E-09BA-9DE1-BB358065CD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1814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Purple slide border color. ">
            <a:extLst>
              <a:ext uri="{FF2B5EF4-FFF2-40B4-BE49-F238E27FC236}">
                <a16:creationId xmlns:a16="http://schemas.microsoft.com/office/drawing/2014/main" id="{C9CC7A7B-72BF-2148-B160-EA5B32411469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214BB-2C3F-E1E5-BDD0-C67B8300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8AE4-430E-D97E-BAB2-7E97E952C2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8E3023-FCBD-DC65-9C52-8350A8635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8247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background">
            <a:extLst>
              <a:ext uri="{FF2B5EF4-FFF2-40B4-BE49-F238E27FC236}">
                <a16:creationId xmlns:a16="http://schemas.microsoft.com/office/drawing/2014/main" id="{CD41E53D-56D4-4C82-898B-01CE38AB7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6" cy="4913313"/>
            <a:chOff x="0" y="1009650"/>
            <a:chExt cx="12191996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0783BA-5DA2-994D-A7B2-8BDAECAFA190}"/>
                </a:ext>
              </a:extLst>
            </p:cNvPr>
            <p:cNvSpPr/>
            <p:nvPr userDrawn="1"/>
          </p:nvSpPr>
          <p:spPr>
            <a:xfrm>
              <a:off x="0" y="1009650"/>
              <a:ext cx="12191996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59EAF9B0-BE56-6748-B94F-D6A648A817D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2E90A3CE-0CBA-E54C-B9E6-033E9469194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2471B9F-0CD6-C044-9881-BAE1BF200229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Purple slide border color. ">
            <a:extLst>
              <a:ext uri="{FF2B5EF4-FFF2-40B4-BE49-F238E27FC236}">
                <a16:creationId xmlns:a16="http://schemas.microsoft.com/office/drawing/2014/main" id="{CEA737E2-E92D-E84A-8C9E-5B00074EEFC1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A55216-35F8-604A-0178-35EDF978E4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7D7BF4-5C9B-4B50-0688-107EBA9E39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40" cy="5635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958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-Icons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ckground">
            <a:extLst>
              <a:ext uri="{FF2B5EF4-FFF2-40B4-BE49-F238E27FC236}">
                <a16:creationId xmlns:a16="http://schemas.microsoft.com/office/drawing/2014/main" id="{49E57066-5E26-4217-86BB-ED6E4B3CC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8C40F516-D969-6E4E-BF93-CCA70344A63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FF49B2-D892-0D45-AB42-3AAD67C3E792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Purple slide border color. ">
            <a:extLst>
              <a:ext uri="{FF2B5EF4-FFF2-40B4-BE49-F238E27FC236}">
                <a16:creationId xmlns:a16="http://schemas.microsoft.com/office/drawing/2014/main" id="{90370AE6-5FDC-E344-AF35-B06C2A21DEA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6D92E-6025-F398-40DC-9469712D63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B5FC3-AE52-19A7-6F8A-323718978F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044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Orbit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Orbit slide border color.">
            <a:extLst>
              <a:ext uri="{FF2B5EF4-FFF2-40B4-BE49-F238E27FC236}">
                <a16:creationId xmlns:a16="http://schemas.microsoft.com/office/drawing/2014/main" id="{AFBE0FF0-DD9B-4D4C-8D49-958F9D7B538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65EC2-65B2-F233-2399-B91B20DC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EB0F6-1D91-81B8-A937-F1A989006E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1B69D6-D4A2-83BE-46E9-1295904E1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612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Orbit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D6C1638-F7A9-4E9D-BF49-37BD4311D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6" cy="4913313"/>
            <a:chOff x="0" y="1009650"/>
            <a:chExt cx="12191996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E2F0230-E8CE-DC44-BE47-8907F62C997D}"/>
                </a:ext>
              </a:extLst>
            </p:cNvPr>
            <p:cNvSpPr/>
            <p:nvPr userDrawn="1"/>
          </p:nvSpPr>
          <p:spPr>
            <a:xfrm>
              <a:off x="0" y="1009650"/>
              <a:ext cx="12191996" cy="15573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08B11CB-640D-E043-BAF5-A0C13F493A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B3AE031-14EA-8D40-9418-E068CFCCEE6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2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3153ED-10FE-2541-95D5-3FFD37931226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Orbit slide border color.">
            <a:extLst>
              <a:ext uri="{FF2B5EF4-FFF2-40B4-BE49-F238E27FC236}">
                <a16:creationId xmlns:a16="http://schemas.microsoft.com/office/drawing/2014/main" id="{2014E3DB-720E-E740-82E3-A1F043489F1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9E05E46-9741-B3CF-1195-89E912118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B46F3E-9AF6-1A67-72BD-4E356152EE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4968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564E-12A4-425C-A283-B8B235FFF7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01751"/>
            <a:ext cx="6613109" cy="623568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Any slides that appear following this one are NOT approved for production use.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-----------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Please be sure to remove them before you publish this deck.</a:t>
            </a: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A956A5A2-BB71-417D-9961-66F664368EAB}"/>
              </a:ext>
            </a:extLst>
          </p:cNvPr>
          <p:cNvSpPr/>
          <p:nvPr userDrawn="1"/>
        </p:nvSpPr>
        <p:spPr>
          <a:xfrm>
            <a:off x="7348648" y="978647"/>
            <a:ext cx="4360244" cy="4360244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STOP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81107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92DFA2-7EEB-8C00-E73B-389E1BA79C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9064" y="6289500"/>
            <a:ext cx="3761337" cy="365125"/>
          </a:xfrm>
        </p:spPr>
        <p:txBody>
          <a:bodyPr l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A3564EC-CE50-1549-B5F0-E1519DE3E6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76506"/>
            <a:ext cx="8782342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0BA1EB2-0EC6-804A-B029-2483E6FB35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19" y="3940166"/>
            <a:ext cx="8782341" cy="523220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FFDFED-A00F-67F2-B023-11EE70A883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720" y="586154"/>
            <a:ext cx="642343" cy="38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7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78B4B-8B58-E813-961C-064BC40AF8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4963816-3C9D-6054-6D89-CCC3057C1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D318C5-3473-9969-88C2-50B0064238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50435"/>
            <a:ext cx="8865469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36C7969-22B7-9E94-E270-5F3C7A19AA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20" y="3914095"/>
            <a:ext cx="8865468" cy="523220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2181229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's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F8ABA-AA73-6F33-8CE3-7BA8AC03293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E30FD-1024-73E5-DDAE-CABD5B7F85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9AE35381-62E7-8B45-DF09-9D52F4A458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0584" y="1149350"/>
            <a:ext cx="11710116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64D7CAF-E305-EFB7-1D4C-FC4028A019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2273300"/>
            <a:ext cx="3602038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15E9AF3-0F43-A8C7-9D9A-24B5C30D63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4188" y="2273300"/>
            <a:ext cx="3603625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A81135-55B4-1CE3-4AAE-80204E5A91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26438" y="2273300"/>
            <a:ext cx="3602037" cy="3584575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49755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7105B5-A94F-CB29-5056-0F6BFD63F0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1176338"/>
            <a:ext cx="11709400" cy="4725987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B2C22-9842-790F-7012-5D5CBEC71E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86CD2-EE78-2625-5844-0B9890040E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6303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hre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968E4-5FE5-20AF-7B20-87717025E7D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04F5B-AFFD-54FC-FAC0-F04384E1793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00D87FF-D51B-E8F3-39CF-9AEBFC357D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0584" y="1149350"/>
            <a:ext cx="11710116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60269A-F2FF-A7E2-AD9F-9F08204AC6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1300" y="2273300"/>
            <a:ext cx="3602038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313B1EB-2063-E608-080C-CD55735352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94188" y="2273300"/>
            <a:ext cx="3603625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2F4C55E-AD63-A918-ED20-BC3E307C2D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26438" y="2273300"/>
            <a:ext cx="3602037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74397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hre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DAC01-332B-D637-56B5-4AFC25E11DE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19175-8EDF-5D9C-33EC-C8E2A19763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4F389A0-9950-789A-55A2-79B1DF20A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300" y="1176338"/>
            <a:ext cx="3602038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5A0F7C1-4F18-7077-33D5-3CBBB08D3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94188" y="1176338"/>
            <a:ext cx="3603625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F26E50D-1254-9591-B5D4-BEC8293AB0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6438" y="1176338"/>
            <a:ext cx="3602037" cy="472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31713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-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500AE-6766-41B0-C029-EAE84059B5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A64CF-48E8-5FFF-28D2-E0495E1D7A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10A7AB1-FFCC-A45F-8D25-303B6F2A27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300" y="1149350"/>
            <a:ext cx="11709400" cy="9842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810F906-2DEE-3C9E-A8D5-9575D7745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1300" y="2273300"/>
            <a:ext cx="5668963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F64ED81-5108-F3B8-4DD7-6ECCF59D78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1738" y="2273300"/>
            <a:ext cx="5668962" cy="358457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60480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65833-E42A-E620-7D83-55DACDE251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F9A05-AD0B-20A1-596D-C0BA3D1F17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B56554-52F1-D18F-5827-F007C7E9F5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300" y="1176338"/>
            <a:ext cx="5668963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AB646E-8298-41D3-BEB1-D7F0A7609C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1738" y="1176338"/>
            <a:ext cx="5668962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04931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22F17-7061-DBE6-40F0-4CE0A9CEF9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A7B6E1-BAB1-B598-78E0-7F84FE2364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178EA3-F808-FA40-ACC0-1278A828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1" y="365126"/>
            <a:ext cx="11710118" cy="6442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7105B5-A94F-CB29-5056-0F6BFD63F0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300" y="1176338"/>
            <a:ext cx="11709400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04933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36402-0D38-2FE6-DABB-84869F8B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5F2C0-30F8-DAE1-A01A-A77FC537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68471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4A4BE7-29FE-EC65-CE2C-3F4AEC50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80BA3-E490-7BB8-44E4-2563732C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4485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quid slide border color.">
            <a:extLst>
              <a:ext uri="{FF2B5EF4-FFF2-40B4-BE49-F238E27FC236}">
                <a16:creationId xmlns:a16="http://schemas.microsoft.com/office/drawing/2014/main" id="{061DB949-1463-2A4C-B301-63F1602C50E3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6BC82-2752-FE77-7E7B-D40EB348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A0474-8FF5-26D4-FF3B-B8AA251B0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2913E6-E833-A35B-D52D-6FC43B3AA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9940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553C159-15C5-4143-902A-A2D9C8AD8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DBF48-0EFD-7E4F-AAF0-AB1C4877B680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1388B4C-0BAF-3342-B4C4-F8F3835171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General Services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1589A14A-BBCF-BC41-8E4A-D55A4B8E1B3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13BDA1A-1CBB-8E43-A453-55D625CBA08B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Squid slide border color.">
            <a:extLst>
              <a:ext uri="{FF2B5EF4-FFF2-40B4-BE49-F238E27FC236}">
                <a16:creationId xmlns:a16="http://schemas.microsoft.com/office/drawing/2014/main" id="{9DE7E60F-0E8F-E845-A30E-6D51DFDCF24C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6C5E90-B6A0-C44C-5B33-1A7116573C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1ECED-EA93-EF92-CE3E-5CCF21835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9016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ly_AWS-Squid-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quid slide border color.">
            <a:extLst>
              <a:ext uri="{FF2B5EF4-FFF2-40B4-BE49-F238E27FC236}">
                <a16:creationId xmlns:a16="http://schemas.microsoft.com/office/drawing/2014/main" id="{8E5D3566-EC15-634D-A5DB-D8659E8B1D53}"/>
              </a:ext>
            </a:extLst>
          </p:cNvPr>
          <p:cNvSpPr/>
          <p:nvPr userDrawn="1"/>
        </p:nvSpPr>
        <p:spPr>
          <a:xfrm>
            <a:off x="0" y="1"/>
            <a:ext cx="12191999" cy="6857999"/>
          </a:xfrm>
          <a:prstGeom prst="rect">
            <a:avLst/>
          </a:prstGeom>
          <a:noFill/>
          <a:ln w="1778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67BF2-F07F-5F3F-475C-95CD1798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A02FF-B2B6-C57F-26B1-0DD331F6C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32934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Galaxy slide border color.">
            <a:extLst>
              <a:ext uri="{FF2B5EF4-FFF2-40B4-BE49-F238E27FC236}">
                <a16:creationId xmlns:a16="http://schemas.microsoft.com/office/drawing/2014/main" id="{0AEB10B3-8C08-7244-A574-BA85CB778D8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5EDD2-E77A-C2D7-DFD4-A448A9D8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E0B2-F3AA-6FBC-AD07-99EDAC6C0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C323C8-2085-5822-7923-7CF461743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57075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03AEA1F-5705-468C-87C7-8FB4BCBE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7" cy="4913313"/>
            <a:chOff x="0" y="1009650"/>
            <a:chExt cx="12191997" cy="49133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1F4C99-54C2-9541-8F43-762C964F1301}"/>
                </a:ext>
              </a:extLst>
            </p:cNvPr>
            <p:cNvSpPr/>
            <p:nvPr userDrawn="1"/>
          </p:nvSpPr>
          <p:spPr>
            <a:xfrm>
              <a:off x="0" y="1009650"/>
              <a:ext cx="12191997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A10370E-4F42-8241-BF9F-E9A72893ED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E12F472C-8CA3-7949-8253-63E2F46D34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2AB3EF-8D29-0347-A0F4-5A920F8D6324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 descr="Galaxy slide border color.">
            <a:extLst>
              <a:ext uri="{FF2B5EF4-FFF2-40B4-BE49-F238E27FC236}">
                <a16:creationId xmlns:a16="http://schemas.microsoft.com/office/drawing/2014/main" id="{468A9567-E554-3010-2A38-DF450DDFF98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FA43EF-49E4-74BC-21F0-D41D27599C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C1FD56-C45F-424C-E9DB-ED23FAE2B3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468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ly_AWS-Galaxy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Galaxy slide border color.">
            <a:extLst>
              <a:ext uri="{FF2B5EF4-FFF2-40B4-BE49-F238E27FC236}">
                <a16:creationId xmlns:a16="http://schemas.microsoft.com/office/drawing/2014/main" id="{AFF7784A-AC38-A14C-8390-9F3D6CB22C2B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7EB7E-691A-4FE3-71DE-02772BF286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5F89A6-18DC-5D54-AD1E-DB0457474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6234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Cosmo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Cosmos slide border color.">
            <a:extLst>
              <a:ext uri="{FF2B5EF4-FFF2-40B4-BE49-F238E27FC236}">
                <a16:creationId xmlns:a16="http://schemas.microsoft.com/office/drawing/2014/main" id="{92051C7E-3900-3D47-BA06-C45A775AC5C5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BC9C4-5B16-0446-1707-A098531C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5DDB9-D31A-2698-9E06-EDBA42040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FB4B64-1C05-8022-8062-CE396DA9A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8027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Cosmo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521E229-13FE-4FC3-B7C6-AA992DC78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6" cy="4913313"/>
            <a:chOff x="0" y="1009650"/>
            <a:chExt cx="12191996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487056-54C9-3C44-8A0E-E8A0308AD2EC}"/>
                </a:ext>
              </a:extLst>
            </p:cNvPr>
            <p:cNvSpPr/>
            <p:nvPr userDrawn="1"/>
          </p:nvSpPr>
          <p:spPr>
            <a:xfrm>
              <a:off x="0" y="1009650"/>
              <a:ext cx="12191996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69FAB93-C1F2-A245-90B4-C96C9D1826D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F0D628E-4994-3E4C-AFDD-4A6F01ABA79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483B396-C225-9E4D-8732-D5FC98F01E48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Cosmos slide border color.">
            <a:extLst>
              <a:ext uri="{FF2B5EF4-FFF2-40B4-BE49-F238E27FC236}">
                <a16:creationId xmlns:a16="http://schemas.microsoft.com/office/drawing/2014/main" id="{95DB3A17-29D7-3A45-ACDB-C1245E165449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1C9672-9F35-D403-7E93-A3EAF1A26E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0CF192-8158-0693-458E-D0BD5278E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2707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Endor slide border color.">
            <a:extLst>
              <a:ext uri="{FF2B5EF4-FFF2-40B4-BE49-F238E27FC236}">
                <a16:creationId xmlns:a16="http://schemas.microsoft.com/office/drawing/2014/main" id="{5573C5A5-FEA2-6F41-A1B4-E8FDB998D47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76095-762D-BE68-015D-91DF4C45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E23E1-65D3-108F-B7F0-D0FA7F50C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4B0985-E6AB-7E04-B155-7041E5076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815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05BA133-69B9-4FF2-BD08-1396789390FF}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512C27-F57D-C04D-8C2E-2FBCFAEFE9E8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0B215-B435-A046-AB52-3AC5CD6CB09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BB3FCFCA-86E9-6843-BBC5-696B46773C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0F07F7-0ACA-744C-8676-DDDFF0EDD79A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9AB1F7AC-1D02-F24E-80FB-3513723974A8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42A501-CFBB-7A93-52F3-AB8E94687A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2BE29-5008-2D62-A19B-811CC5BEDF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6292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-Class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2626ACD-3A5A-4C7B-BC05-7095F7FB342E}"/>
              </a:ext>
            </a:extLst>
          </p:cNvPr>
          <p:cNvGrpSpPr/>
          <p:nvPr userDrawn="1"/>
        </p:nvGrpSpPr>
        <p:grpSpPr>
          <a:xfrm>
            <a:off x="0" y="1009650"/>
            <a:ext cx="12191998" cy="4913313"/>
            <a:chOff x="0" y="1009650"/>
            <a:chExt cx="12191998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46AA92-8B71-8343-AF02-BAEECFD8F9E8}"/>
                </a:ext>
              </a:extLst>
            </p:cNvPr>
            <p:cNvSpPr/>
            <p:nvPr userDrawn="1"/>
          </p:nvSpPr>
          <p:spPr>
            <a:xfrm>
              <a:off x="0" y="1009650"/>
              <a:ext cx="12191998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C66A8FD4-AEDF-F246-ACD7-A4642BCCBD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A6DB7508-B76E-E744-9C55-9282869366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Storage Classes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7DB5F5-A7AF-224D-AD0A-3017FEAC6807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0EE8DD8F-3E33-DE49-A6C4-85510AAE51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44196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</p:grpSp>
      <p:sp>
        <p:nvSpPr>
          <p:cNvPr id="8" name="Rectangle 7" descr="Endor slide border color.">
            <a:extLst>
              <a:ext uri="{FF2B5EF4-FFF2-40B4-BE49-F238E27FC236}">
                <a16:creationId xmlns:a16="http://schemas.microsoft.com/office/drawing/2014/main" id="{D41A0A26-7D8D-E34A-A375-337900A8134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7A0009A-07A1-B192-98C1-30731D62BA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A8E09-3949-0C42-F238-4E96EA21F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634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T-Resource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0FB081C-3EA8-4CC9-AEAA-5A88FBEBA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BCC60938-B1D7-7642-B1A2-9236489D4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IoT Resources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42122E-0449-9146-A319-D11DF60C4F51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Endor slide border color.">
            <a:extLst>
              <a:ext uri="{FF2B5EF4-FFF2-40B4-BE49-F238E27FC236}">
                <a16:creationId xmlns:a16="http://schemas.microsoft.com/office/drawing/2014/main" id="{4C2C7E85-0D8D-A349-9C99-2B876764A29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692BB6-3B05-1293-CC06-6FDE345501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97408-F4F0-7E99-C730-19F388F4D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2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58318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T-Things_AWS-Endor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B27F948-4C88-4606-B600-4B5701E6D42F}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63DE121C-6773-A942-87BC-F4D427316A9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IoT Things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0F07151-3D39-D647-9EC4-468CD7515165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Endor slide border color.">
            <a:extLst>
              <a:ext uri="{FF2B5EF4-FFF2-40B4-BE49-F238E27FC236}">
                <a16:creationId xmlns:a16="http://schemas.microsoft.com/office/drawing/2014/main" id="{4758A11D-69A8-0C48-B5B1-2F07EB49825B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7AA1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D450F-B073-2724-EFAB-1458FF83F7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B9F3D-6443-1422-0F09-2FC88B7055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8314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mile slide border color.">
            <a:extLst>
              <a:ext uri="{FF2B5EF4-FFF2-40B4-BE49-F238E27FC236}">
                <a16:creationId xmlns:a16="http://schemas.microsoft.com/office/drawing/2014/main" id="{04734F41-1E91-BB44-8DB4-8C7590A467B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EA197-D7E8-786F-1AA3-1FACE65C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D418F-7ECB-AD5F-D0C7-A97A14505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7719DA-11C0-89F7-1183-23DEE88B9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7283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E19C435-6317-4052-AE8D-DCE5DD735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8" cy="4913313"/>
            <a:chOff x="0" y="1009650"/>
            <a:chExt cx="12191998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F773F9-4F99-D942-BEBB-1593505C68C1}"/>
                </a:ext>
              </a:extLst>
            </p:cNvPr>
            <p:cNvSpPr/>
            <p:nvPr userDrawn="1"/>
          </p:nvSpPr>
          <p:spPr>
            <a:xfrm>
              <a:off x="0" y="1009650"/>
              <a:ext cx="12191998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AF5CCA0-0690-374D-8772-DEF02BD7F54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BC98EB3-F74A-FD47-AF5D-6FDD457384E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DEDFC34-7FFC-F543-BA55-50C9C7C48B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Smile slide border color.">
            <a:extLst>
              <a:ext uri="{FF2B5EF4-FFF2-40B4-BE49-F238E27FC236}">
                <a16:creationId xmlns:a16="http://schemas.microsoft.com/office/drawing/2014/main" id="{D97EA81C-3417-9A44-BB8E-31157C34FEB0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52EE44F-067B-DDFC-C61E-4E44544741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A7C87C-AFEA-994A-5677-D6E0BF66DF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3687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_Instances_AWS-Smile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B44E062-A77C-4F23-A531-4585F9B96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F41C06-25C4-FE46-A47C-4B60AE628A89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98499298-BDCA-EC42-BE59-1F8672E525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461EB6ED-D795-1747-A446-1C4C0434D81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378119F-F6F8-D44F-8ABE-419D35451573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FE489E1A-1BF1-F242-86E2-9807F29A1BE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4049487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Instances</a:t>
              </a:r>
            </a:p>
          </p:txBody>
        </p:sp>
      </p:grpSp>
      <p:sp>
        <p:nvSpPr>
          <p:cNvPr id="8" name="Rectangle 7" descr="Smile slide border color.">
            <a:extLst>
              <a:ext uri="{FF2B5EF4-FFF2-40B4-BE49-F238E27FC236}">
                <a16:creationId xmlns:a16="http://schemas.microsoft.com/office/drawing/2014/main" id="{8B257808-C612-7942-9E1F-FF677A089C7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181C349-28A5-9EA2-5AD9-07AE81A15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D6D495-0407-CD1E-7CF2-B5727772E0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609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Mar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Mars slide border color.">
            <a:extLst>
              <a:ext uri="{FF2B5EF4-FFF2-40B4-BE49-F238E27FC236}">
                <a16:creationId xmlns:a16="http://schemas.microsoft.com/office/drawing/2014/main" id="{687C9EBA-6CEA-D94E-918D-9DD6990AE6A3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DD3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8E266-EB39-0A9E-C76A-053B4434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7B292-2800-583D-9EDE-02771F816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344EBE-C5DD-42C9-0773-5EF031398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39466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Mars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2024583-6DB5-4311-B159-16D1BD2F9D2B}"/>
              </a:ext>
            </a:extLst>
          </p:cNvPr>
          <p:cNvGrpSpPr/>
          <p:nvPr userDrawn="1"/>
        </p:nvGrpSpPr>
        <p:grpSpPr>
          <a:xfrm>
            <a:off x="0" y="1009650"/>
            <a:ext cx="12192000" cy="4913313"/>
            <a:chOff x="0" y="1009650"/>
            <a:chExt cx="12192000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E300FE-0BEC-454E-9226-4BF426763D48}"/>
                </a:ext>
              </a:extLst>
            </p:cNvPr>
            <p:cNvSpPr/>
            <p:nvPr userDrawn="1"/>
          </p:nvSpPr>
          <p:spPr>
            <a:xfrm>
              <a:off x="0" y="1009650"/>
              <a:ext cx="12192000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4C2F67B6-6C8E-C641-86AA-C2F4428DDFA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8BBDD403-20C7-4B41-9D7D-4F367D174F2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71A8823-AC99-5D48-BD49-9E36441E3815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Mars slide border color.">
            <a:extLst>
              <a:ext uri="{FF2B5EF4-FFF2-40B4-BE49-F238E27FC236}">
                <a16:creationId xmlns:a16="http://schemas.microsoft.com/office/drawing/2014/main" id="{BB803129-AEB7-3747-880F-67B9DA5EADC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DD3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43F37E-BEB7-9CA9-4E15-9F6907D9A5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F7325-7C1E-09BA-9DE1-BB358065CD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3337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Purple slide border color.">
            <a:extLst>
              <a:ext uri="{FF2B5EF4-FFF2-40B4-BE49-F238E27FC236}">
                <a16:creationId xmlns:a16="http://schemas.microsoft.com/office/drawing/2014/main" id="{C9CC7A7B-72BF-2148-B160-EA5B32411469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214BB-2C3F-E1E5-BDD0-C67B8300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8AE4-430E-D97E-BAB2-7E97E952C2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8E3023-FCBD-DC65-9C52-8350A8635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73623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001CFA1-EDE7-4161-871E-4CAC0B8D1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4" cy="4913313"/>
            <a:chOff x="0" y="1009650"/>
            <a:chExt cx="12191994" cy="49133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0783BA-5DA2-994D-A7B2-8BDAECAFA190}"/>
                </a:ext>
              </a:extLst>
            </p:cNvPr>
            <p:cNvSpPr/>
            <p:nvPr userDrawn="1"/>
          </p:nvSpPr>
          <p:spPr>
            <a:xfrm>
              <a:off x="0" y="1009650"/>
              <a:ext cx="12191994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59EAF9B0-BE56-6748-B94F-D6A648A817D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2E90A3CE-0CBA-E54C-B9E6-033E9469194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2471B9F-0CD6-C044-9881-BAE1BF200229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Purple slide border color.">
            <a:extLst>
              <a:ext uri="{FF2B5EF4-FFF2-40B4-BE49-F238E27FC236}">
                <a16:creationId xmlns:a16="http://schemas.microsoft.com/office/drawing/2014/main" id="{CEA737E2-E92D-E84A-8C9E-5B00074EEFC1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A55216-35F8-604A-0178-35EDF978E4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7D7BF4-5C9B-4B50-0688-107EBA9E39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9351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-Icons_AWS-Nebula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68DD151-86F3-4CB6-A7B7-D9F2CCB14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1300" y="1009650"/>
            <a:ext cx="1984375" cy="4913313"/>
            <a:chOff x="241300" y="1009650"/>
            <a:chExt cx="1984375" cy="4913313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8C40F516-D969-6E4E-BF93-CCA70344A63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FF49B2-D892-0D45-AB42-3AAD67C3E792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 descr="Purple slide border color.">
            <a:extLst>
              <a:ext uri="{FF2B5EF4-FFF2-40B4-BE49-F238E27FC236}">
                <a16:creationId xmlns:a16="http://schemas.microsoft.com/office/drawing/2014/main" id="{90370AE6-5FDC-E344-AF35-B06C2A21DEA6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C92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6D92E-6025-F398-40DC-9469712D63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B5FC3-AE52-19A7-6F8A-323718978F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7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1969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y_AWS-Orbit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Orbit slide border color.">
            <a:extLst>
              <a:ext uri="{FF2B5EF4-FFF2-40B4-BE49-F238E27FC236}">
                <a16:creationId xmlns:a16="http://schemas.microsoft.com/office/drawing/2014/main" id="{AFBE0FF0-DD9B-4D4C-8D49-958F9D7B538D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65EC2-65B2-F233-2399-B91B20DC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EB0F6-1D91-81B8-A937-F1A989006E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1B69D6-D4A2-83BE-46E9-1295904E1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26" y="2069559"/>
            <a:ext cx="8195549" cy="225118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137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_AWS-Orbit-5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CDA8632-AEFC-4DBE-B8E9-555824BC9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09650"/>
            <a:ext cx="12191998" cy="4913313"/>
            <a:chOff x="0" y="1009650"/>
            <a:chExt cx="12191998" cy="4913313"/>
          </a:xfrm>
        </p:grpSpPr>
        <p:sp>
          <p:nvSpPr>
            <p:cNvPr id="4" name="Rectangle 3" descr="Persian green slide border color.">
              <a:extLst>
                <a:ext uri="{FF2B5EF4-FFF2-40B4-BE49-F238E27FC236}">
                  <a16:creationId xmlns:a16="http://schemas.microsoft.com/office/drawing/2014/main" id="{0E2F0230-E8CE-DC44-BE47-8907F62C997D}"/>
                </a:ext>
              </a:extLst>
            </p:cNvPr>
            <p:cNvSpPr/>
            <p:nvPr userDrawn="1"/>
          </p:nvSpPr>
          <p:spPr>
            <a:xfrm>
              <a:off x="0" y="1009650"/>
              <a:ext cx="12191998" cy="155733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08B11CB-640D-E043-BAF5-A0C13F493A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1465263"/>
              <a:ext cx="1905000" cy="64452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Service Icons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B3AE031-14EA-8D40-9418-E068CFCCEE6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41300" y="2844800"/>
              <a:ext cx="1905000" cy="642938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161E2D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Resource Icons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3153ED-10FE-2541-95D5-3FFD37931226}"/>
                </a:ext>
              </a:extLst>
            </p:cNvPr>
            <p:cNvCxnSpPr/>
            <p:nvPr userDrawn="1"/>
          </p:nvCxnSpPr>
          <p:spPr>
            <a:xfrm>
              <a:off x="2225675" y="1009650"/>
              <a:ext cx="0" cy="4913313"/>
            </a:xfrm>
            <a:prstGeom prst="line">
              <a:avLst/>
            </a:prstGeom>
            <a:ln w="12700">
              <a:solidFill>
                <a:srgbClr val="D5DB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 descr="Orbit slide border color.">
            <a:extLst>
              <a:ext uri="{FF2B5EF4-FFF2-40B4-BE49-F238E27FC236}">
                <a16:creationId xmlns:a16="http://schemas.microsoft.com/office/drawing/2014/main" id="{2014E3DB-720E-E740-82E3-A1F043489F17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9E05E46-9741-B3CF-1195-89E912118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B46F3E-9AF6-1A67-72BD-4E356152EE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0" y="365126"/>
            <a:ext cx="11614339" cy="64427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73409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564E-12A4-425C-A283-B8B235FFF7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01751"/>
            <a:ext cx="6613109" cy="623568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Any slides that appear following this one are NOT approved for production use.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-----------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Please be sure to remove them before you publish this deck.</a:t>
            </a: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A956A5A2-BB71-417D-9961-66F664368EAB}"/>
              </a:ext>
            </a:extLst>
          </p:cNvPr>
          <p:cNvSpPr/>
          <p:nvPr userDrawn="1"/>
        </p:nvSpPr>
        <p:spPr>
          <a:xfrm>
            <a:off x="7348648" y="978647"/>
            <a:ext cx="4360244" cy="4360244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STOP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8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0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5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37" Type="http://schemas.openxmlformats.org/officeDocument/2006/relationships/image" Target="../media/image4.svg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67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slideLayout" Target="../slideLayouts/slideLayout71.xml"/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C649E9B-1B14-03BC-223A-A73E4C2CB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8CE38-9F29-7D57-6505-1D5D478DA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1C473C-44BA-054B-B271-D3751D073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604AFDB-588D-E24E-89EC-AD90383CE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1300" y="1176338"/>
            <a:ext cx="11709400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217F9E9-901D-0684-0DC1-5ADB5FF29E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36720" y="6337594"/>
            <a:ext cx="365760" cy="2194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4" r:id="rId2"/>
    <p:sldLayoutId id="2147483816" r:id="rId3"/>
    <p:sldLayoutId id="2147483822" r:id="rId4"/>
    <p:sldLayoutId id="2147483819" r:id="rId5"/>
    <p:sldLayoutId id="2147483823" r:id="rId6"/>
    <p:sldLayoutId id="2147483821" r:id="rId7"/>
    <p:sldLayoutId id="2147483817" r:id="rId8"/>
    <p:sldLayoutId id="2147483818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  <p:sldLayoutId id="2147483791" r:id="rId16"/>
    <p:sldLayoutId id="2147483814" r:id="rId17"/>
    <p:sldLayoutId id="2147483792" r:id="rId18"/>
    <p:sldLayoutId id="2147483793" r:id="rId19"/>
    <p:sldLayoutId id="2147483794" r:id="rId20"/>
    <p:sldLayoutId id="2147483796" r:id="rId21"/>
    <p:sldLayoutId id="2147483795" r:id="rId22"/>
    <p:sldLayoutId id="2147483864" r:id="rId23"/>
    <p:sldLayoutId id="2147483797" r:id="rId24"/>
    <p:sldLayoutId id="2147483798" r:id="rId25"/>
    <p:sldLayoutId id="2147483799" r:id="rId26"/>
    <p:sldLayoutId id="2147483800" r:id="rId27"/>
    <p:sldLayoutId id="2147483813" r:id="rId28"/>
    <p:sldLayoutId id="2147483803" r:id="rId29"/>
    <p:sldLayoutId id="2147483804" r:id="rId30"/>
    <p:sldLayoutId id="2147483805" r:id="rId31"/>
    <p:sldLayoutId id="2147483806" r:id="rId32"/>
    <p:sldLayoutId id="2147483807" r:id="rId33"/>
    <p:sldLayoutId id="2147483808" r:id="rId34"/>
    <p:sldLayoutId id="2147483809" r:id="rId35"/>
    <p:sldLayoutId id="2147483863" r:id="rId36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ts val="1000"/>
        </a:spcBef>
        <a:spcAft>
          <a:spcPct val="0"/>
        </a:spcAft>
        <a:buFont typeface="Arial" panose="020B0604020202020204" pitchFamily="34" charset="0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C649E9B-1B14-03BC-223A-A73E4C2CB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895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8CE38-9F29-7D57-6505-1D5D478DA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208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1C473C-44BA-054B-B271-D3751D073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1300" y="365125"/>
            <a:ext cx="117094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604AFDB-588D-E24E-89EC-AD90383CE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1300" y="1176338"/>
            <a:ext cx="11709400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53D0324-E1F1-5606-76F1-580B7E8094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36720" y="6335089"/>
            <a:ext cx="348827" cy="20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4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  <p:sldLayoutId id="2147483845" r:id="rId18"/>
    <p:sldLayoutId id="2147483846" r:id="rId19"/>
    <p:sldLayoutId id="2147483847" r:id="rId20"/>
    <p:sldLayoutId id="2147483848" r:id="rId21"/>
    <p:sldLayoutId id="2147483849" r:id="rId22"/>
    <p:sldLayoutId id="2147483850" r:id="rId23"/>
    <p:sldLayoutId id="2147483851" r:id="rId24"/>
    <p:sldLayoutId id="2147483852" r:id="rId25"/>
    <p:sldLayoutId id="2147483853" r:id="rId26"/>
    <p:sldLayoutId id="2147483854" r:id="rId27"/>
    <p:sldLayoutId id="2147483855" r:id="rId28"/>
    <p:sldLayoutId id="2147483856" r:id="rId29"/>
    <p:sldLayoutId id="2147483857" r:id="rId30"/>
    <p:sldLayoutId id="2147483858" r:id="rId31"/>
    <p:sldLayoutId id="2147483859" r:id="rId32"/>
    <p:sldLayoutId id="2147483860" r:id="rId33"/>
    <p:sldLayoutId id="2147483861" r:id="rId34"/>
    <p:sldLayoutId id="2147483862" r:id="rId35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161E2D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ts val="1000"/>
        </a:spcBef>
        <a:spcAft>
          <a:spcPct val="0"/>
        </a:spcAft>
        <a:buFont typeface="Arial" panose="020B0604020202020204" pitchFamily="34" charset="0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algn="l" rtl="0" eaLnBrk="0" fontAlgn="base" hangingPunct="0">
        <a:lnSpc>
          <a:spcPct val="100000"/>
        </a:lnSpc>
        <a:spcBef>
          <a:spcPts val="5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github.com/aws-samples/rag-with-amazon-bedrock-and-pgvector" TargetMode="Externa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github.com/aws-samples/rag-with-amazon-bedrock-and-opensearch" TargetMode="Externa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github.com/aws-samples/managing-chat-history-and-context-at-scale-in-generative-ai-chatbots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42.svg"/><Relationship Id="rId7" Type="http://schemas.openxmlformats.org/officeDocument/2006/relationships/image" Target="../media/image33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svg"/><Relationship Id="rId11" Type="http://schemas.openxmlformats.org/officeDocument/2006/relationships/image" Target="../media/image46.svg"/><Relationship Id="rId5" Type="http://schemas.openxmlformats.org/officeDocument/2006/relationships/image" Target="../media/image44.png"/><Relationship Id="rId10" Type="http://schemas.openxmlformats.org/officeDocument/2006/relationships/image" Target="../media/image37.svg"/><Relationship Id="rId4" Type="http://schemas.openxmlformats.org/officeDocument/2006/relationships/image" Target="../media/image43.png"/><Relationship Id="rId9" Type="http://schemas.openxmlformats.org/officeDocument/2006/relationships/image" Target="../media/image45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4">
            <a:extLst>
              <a:ext uri="{FF2B5EF4-FFF2-40B4-BE49-F238E27FC236}">
                <a16:creationId xmlns:a16="http://schemas.microsoft.com/office/drawing/2014/main" id="{4E2A3DCA-3526-ED48-BE0F-AEC29BAD0B8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36720" y="1818988"/>
            <a:ext cx="11375551" cy="2370354"/>
          </a:xfrm>
        </p:spPr>
        <p:txBody>
          <a:bodyPr/>
          <a:lstStyle/>
          <a:p>
            <a:r>
              <a:rPr lang="es-ES_tradnl" noProof="1"/>
              <a:t>Bases de Datos para IA: Embeddings, Búsqueda Semantica y Agentes Inteligentes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54E2EE8-3834-381B-AC5B-CD1E4D48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720" y="4189342"/>
            <a:ext cx="9131475" cy="523220"/>
          </a:xfrm>
        </p:spPr>
        <p:txBody>
          <a:bodyPr/>
          <a:lstStyle/>
          <a:p>
            <a:r>
              <a:rPr lang="en-PE" dirty="0"/>
              <a:t>Cómo escoger una base de datos para IA</a:t>
            </a:r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143834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BFF42A-DC25-F116-A301-AEE2D7D11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2080" y="628950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B4B8DE2-A4E8-46E4-8BBF-D75455EFF32C}" type="slidenum">
              <a:rPr lang="es-ES_tradnl" noProof="1" smtClean="0"/>
              <a:pPr>
                <a:spcAft>
                  <a:spcPts val="600"/>
                </a:spcAft>
              </a:pPr>
              <a:t>2</a:t>
            </a:fld>
            <a:endParaRPr lang="es-ES_tradnl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FEDA83-D2E5-FE29-E83A-0448288E4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300" y="365125"/>
            <a:ext cx="11709400" cy="644525"/>
          </a:xfrm>
        </p:spPr>
        <p:txBody>
          <a:bodyPr wrap="square" anchor="ctr">
            <a:normAutofit/>
          </a:bodyPr>
          <a:lstStyle/>
          <a:p>
            <a:r>
              <a:rPr lang="en-PE" sz="3800" dirty="0"/>
              <a:t>Hassel Muñoz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F55911-4B19-5B4C-AA81-E4C40E07E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9" r="7457" b="-3"/>
          <a:stretch>
            <a:fillRect/>
          </a:stretch>
        </p:blipFill>
        <p:spPr bwMode="auto">
          <a:xfrm>
            <a:off x="241300" y="1200150"/>
            <a:ext cx="3398519" cy="435254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2E437-81CE-2095-9CF6-DD12BC37D54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 bwMode="auto">
          <a:xfrm>
            <a:off x="4020820" y="1230088"/>
            <a:ext cx="7929880" cy="111477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b="1" kern="1200" dirty="0"/>
              <a:t>Solutions Architect</a:t>
            </a:r>
            <a:r>
              <a:rPr lang="en-US" kern="1200" dirty="0"/>
              <a:t> en NIUBIZ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b="1" kern="1200" dirty="0"/>
              <a:t>AWS Enthusiast</a:t>
            </a:r>
            <a:endParaRPr lang="en-US" kern="1200" dirty="0"/>
          </a:p>
        </p:txBody>
      </p:sp>
      <p:pic>
        <p:nvPicPr>
          <p:cNvPr id="8" name="Picture 4" descr="AWS Certified AI Practitioner">
            <a:extLst>
              <a:ext uri="{FF2B5EF4-FFF2-40B4-BE49-F238E27FC236}">
                <a16:creationId xmlns:a16="http://schemas.microsoft.com/office/drawing/2014/main" id="{004D5653-9F33-EE5C-DEF2-8C779E274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969" y="2587086"/>
            <a:ext cx="1513246" cy="151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AWS Certified AI Practitioner Early Adopter">
            <a:extLst>
              <a:ext uri="{FF2B5EF4-FFF2-40B4-BE49-F238E27FC236}">
                <a16:creationId xmlns:a16="http://schemas.microsoft.com/office/drawing/2014/main" id="{0FD522F5-9F9D-1D50-23E7-5D4395477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565" y="2594440"/>
            <a:ext cx="1822234" cy="168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AWS Certified Cloud Practitioner">
            <a:extLst>
              <a:ext uri="{FF2B5EF4-FFF2-40B4-BE49-F238E27FC236}">
                <a16:creationId xmlns:a16="http://schemas.microsoft.com/office/drawing/2014/main" id="{C03CA291-DCE9-4CFE-C8B6-313AD1379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197" y="2519188"/>
            <a:ext cx="1635549" cy="1635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WS Certified Developer – Associate">
            <a:extLst>
              <a:ext uri="{FF2B5EF4-FFF2-40B4-BE49-F238E27FC236}">
                <a16:creationId xmlns:a16="http://schemas.microsoft.com/office/drawing/2014/main" id="{74696CD3-3E2A-40B7-AD50-CD392E999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6530" y="4095016"/>
            <a:ext cx="1494034" cy="1494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AWS Certified DevOps Engineer – Professional">
            <a:extLst>
              <a:ext uri="{FF2B5EF4-FFF2-40B4-BE49-F238E27FC236}">
                <a16:creationId xmlns:a16="http://schemas.microsoft.com/office/drawing/2014/main" id="{09861DD4-0EAB-B239-F6A7-909987E7E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387" y="4057834"/>
            <a:ext cx="1526726" cy="152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AWS Certified Solutions Architect – Associate">
            <a:extLst>
              <a:ext uri="{FF2B5EF4-FFF2-40B4-BE49-F238E27FC236}">
                <a16:creationId xmlns:a16="http://schemas.microsoft.com/office/drawing/2014/main" id="{97B4B71B-44DB-1074-5024-473D64F52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576" y="4105647"/>
            <a:ext cx="1494033" cy="149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6" descr="AWS Certified SysOps Administrator – Associate">
            <a:extLst>
              <a:ext uri="{FF2B5EF4-FFF2-40B4-BE49-F238E27FC236}">
                <a16:creationId xmlns:a16="http://schemas.microsoft.com/office/drawing/2014/main" id="{C9E0491F-099C-DDBA-CED0-4F8E68644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643" y="4087278"/>
            <a:ext cx="1494034" cy="1494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8" descr="AWS Certified Solutions Architect – Professional">
            <a:extLst>
              <a:ext uri="{FF2B5EF4-FFF2-40B4-BE49-F238E27FC236}">
                <a16:creationId xmlns:a16="http://schemas.microsoft.com/office/drawing/2014/main" id="{45D252ED-1DE0-591A-31EC-D89A96375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387" y="2560552"/>
            <a:ext cx="1526726" cy="152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FFE7-A234-0BA8-6CC5-BCCAC305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4C7D11-6625-8BB7-943E-410391DCC5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3</a:t>
            </a:fld>
            <a:endParaRPr lang="es-ES_tradnl" noProof="1"/>
          </a:p>
        </p:txBody>
      </p:sp>
      <p:sp>
        <p:nvSpPr>
          <p:cNvPr id="40961" name="Title 5">
            <a:extLst>
              <a:ext uri="{FF2B5EF4-FFF2-40B4-BE49-F238E27FC236}">
                <a16:creationId xmlns:a16="http://schemas.microsoft.com/office/drawing/2014/main" id="{F50AED99-FAC5-02E4-B924-74EC3A717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noProof="1"/>
              <a:t>Contenido</a:t>
            </a:r>
          </a:p>
        </p:txBody>
      </p:sp>
      <p:sp>
        <p:nvSpPr>
          <p:cNvPr id="40962" name="Content Placeholder 6">
            <a:extLst>
              <a:ext uri="{FF2B5EF4-FFF2-40B4-BE49-F238E27FC236}">
                <a16:creationId xmlns:a16="http://schemas.microsoft.com/office/drawing/2014/main" id="{DD1157A1-E3FB-41B9-7C9A-A5A336F143F1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PE" dirty="0"/>
              <a:t>El desafío del contexto en la IA moderna</a:t>
            </a:r>
          </a:p>
          <a:p>
            <a:pPr eaLnBrk="1" hangingPunct="1">
              <a:lnSpc>
                <a:spcPct val="150000"/>
              </a:lnSpc>
            </a:pPr>
            <a:r>
              <a:rPr lang="en-PE" dirty="0"/>
              <a:t>De embeddings a sistemas inteligentes</a:t>
            </a:r>
          </a:p>
          <a:p>
            <a:pPr eaLnBrk="1" hangingPunct="1">
              <a:lnSpc>
                <a:spcPct val="150000"/>
              </a:lnSpc>
            </a:pPr>
            <a:r>
              <a:rPr lang="en-PE" dirty="0"/>
              <a:t>Cómo implementarlo en AWS</a:t>
            </a:r>
          </a:p>
          <a:p>
            <a:pPr eaLnBrk="1" hangingPunct="1">
              <a:lnSpc>
                <a:spcPct val="150000"/>
              </a:lnSpc>
            </a:pPr>
            <a:r>
              <a:rPr lang="en-PE" dirty="0"/>
              <a:t>Conclusiones</a:t>
            </a:r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319092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C17137-2945-3367-42F1-C26458A63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4</a:t>
            </a:fld>
            <a:endParaRPr lang="es-ES_tradnl" noProof="1"/>
          </a:p>
        </p:txBody>
      </p:sp>
      <p:sp>
        <p:nvSpPr>
          <p:cNvPr id="37889" name="Title 4">
            <a:extLst>
              <a:ext uri="{FF2B5EF4-FFF2-40B4-BE49-F238E27FC236}">
                <a16:creationId xmlns:a16="http://schemas.microsoft.com/office/drawing/2014/main" id="{4E2A3DCA-3526-ED48-BE0F-AEC29BAD0B8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noProof="1"/>
              <a:t>Introduction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1E73EEA-03FA-8F40-9442-4B1A82AA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719" y="3914095"/>
            <a:ext cx="9703019" cy="65877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PE" dirty="0"/>
              <a:t>El desafío del contexto en la IA moderna</a:t>
            </a:r>
          </a:p>
        </p:txBody>
      </p:sp>
    </p:spTree>
    <p:extLst>
      <p:ext uri="{BB962C8B-B14F-4D97-AF65-F5344CB8AC3E}">
        <p14:creationId xmlns:p14="http://schemas.microsoft.com/office/powerpoint/2010/main" val="91875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2B089D-DEA8-E0C2-7FC3-D7989C57BC9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5</a:t>
            </a:fld>
            <a:endParaRPr lang="es-ES_tradnl" noProof="1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DEC6C95F-3B4F-2641-BC0E-CAA65127A2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Los LLMs no conocen tus datos</a:t>
            </a:r>
            <a:endParaRPr lang="es-ES_tradnl" noProof="1"/>
          </a:p>
        </p:txBody>
      </p:sp>
      <p:sp>
        <p:nvSpPr>
          <p:cNvPr id="43010" name="Content Placeholder 4">
            <a:extLst>
              <a:ext uri="{FF2B5EF4-FFF2-40B4-BE49-F238E27FC236}">
                <a16:creationId xmlns:a16="http://schemas.microsoft.com/office/drawing/2014/main" id="{2AF10547-B527-224B-A06C-98ECD4EB7F6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241300" y="1462585"/>
            <a:ext cx="5854700" cy="1598667"/>
          </a:xfrm>
        </p:spPr>
        <p:txBody>
          <a:bodyPr/>
          <a:lstStyle/>
          <a:p>
            <a:r>
              <a:rPr lang="en-PE" dirty="0"/>
              <a:t>Los LLMs fueron entrenados sobre grandes volúmenes de información pública, pero no tienen acceso nativo a documentos internos, datos empresariales recientes o contexto específico del negocio.</a:t>
            </a:r>
            <a:endParaRPr lang="es-ES_tradnl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609744-2186-A05C-AD78-322910E414B3}"/>
              </a:ext>
            </a:extLst>
          </p:cNvPr>
          <p:cNvSpPr txBox="1"/>
          <p:nvPr/>
        </p:nvSpPr>
        <p:spPr>
          <a:xfrm>
            <a:off x="306125" y="5222461"/>
            <a:ext cx="5789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E" b="1" dirty="0"/>
              <a:t>Los LLMs son modelos fundacionales, no bases de conocimiento empresariales</a:t>
            </a:r>
          </a:p>
        </p:txBody>
      </p:sp>
      <p:pic>
        <p:nvPicPr>
          <p:cNvPr id="2052" name="Picture 4" descr="OpenAI Released GPT-5.5 (The Most Advanced AI Model Ever Built) | by Ai  studio | The Ai Studio | Apr, 2026 | Medium">
            <a:extLst>
              <a:ext uri="{FF2B5EF4-FFF2-40B4-BE49-F238E27FC236}">
                <a16:creationId xmlns:a16="http://schemas.microsoft.com/office/drawing/2014/main" id="{8DEDDC66-18F6-61EC-2DFF-B08B517CE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25" y="3003500"/>
            <a:ext cx="2877281" cy="169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laude Hackathon x UVicHacks: Build with Claude. Compete for $1,500 in  Anthropic API credits. One day to make something that matters. - Devpost">
            <a:extLst>
              <a:ext uri="{FF2B5EF4-FFF2-40B4-BE49-F238E27FC236}">
                <a16:creationId xmlns:a16="http://schemas.microsoft.com/office/drawing/2014/main" id="{A79F364E-C88C-F8D8-3894-53F6BF41F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450" y="2775005"/>
            <a:ext cx="1930897" cy="192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Gemini ปรับโลโก้ใหม่ เปลี่ยนมาใช้ 4 สีตาม Google | BT Beartai | LINE TODAY">
            <a:extLst>
              <a:ext uri="{FF2B5EF4-FFF2-40B4-BE49-F238E27FC236}">
                <a16:creationId xmlns:a16="http://schemas.microsoft.com/office/drawing/2014/main" id="{30181525-2BA8-9EF1-3487-D876B52E7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391" y="3003501"/>
            <a:ext cx="3550205" cy="170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La note éthique de Llama (Meta) selon Moralscore, plateforme RSE :  environnement et social">
            <a:extLst>
              <a:ext uri="{FF2B5EF4-FFF2-40B4-BE49-F238E27FC236}">
                <a16:creationId xmlns:a16="http://schemas.microsoft.com/office/drawing/2014/main" id="{FB3AE5E5-3405-58B8-065D-65AE403FC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640" y="2839317"/>
            <a:ext cx="1930897" cy="1930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46B85CAB-1B2A-8563-6603-0641A6EBD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775" y="4642717"/>
            <a:ext cx="4706762" cy="100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Agentic AI Platform for Scalable Business Solutions | Vertesia">
            <a:extLst>
              <a:ext uri="{FF2B5EF4-FFF2-40B4-BE49-F238E27FC236}">
                <a16:creationId xmlns:a16="http://schemas.microsoft.com/office/drawing/2014/main" id="{C3E64F00-537E-5389-C9E1-FCB23CCDF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775" y="365125"/>
            <a:ext cx="4508500" cy="180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IA para resultados reais — agentes, automação e governança para acelerar  seu negócio">
            <a:extLst>
              <a:ext uri="{FF2B5EF4-FFF2-40B4-BE49-F238E27FC236}">
                <a16:creationId xmlns:a16="http://schemas.microsoft.com/office/drawing/2014/main" id="{5220971E-BB49-FBBD-3BD1-CB928D05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775" y="1680442"/>
            <a:ext cx="4508500" cy="180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443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706AD-75A5-9356-4034-271E087E3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DEBF1E-43D2-1663-5008-1AD966AD64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6</a:t>
            </a:fld>
            <a:endParaRPr lang="es-ES_tradnl" noProof="1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312CC312-B58B-028F-A0AF-7D14FBAE0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Alucinaciones y falta de contexto</a:t>
            </a:r>
            <a:endParaRPr lang="es-ES_tradnl" noProof="1"/>
          </a:p>
        </p:txBody>
      </p:sp>
      <p:sp>
        <p:nvSpPr>
          <p:cNvPr id="43010" name="Content Placeholder 4">
            <a:extLst>
              <a:ext uri="{FF2B5EF4-FFF2-40B4-BE49-F238E27FC236}">
                <a16:creationId xmlns:a16="http://schemas.microsoft.com/office/drawing/2014/main" id="{141C5AC2-0C53-7BB5-F0E8-23C0A6E043D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241300" y="1176339"/>
            <a:ext cx="10580425" cy="755828"/>
          </a:xfrm>
        </p:spPr>
        <p:txBody>
          <a:bodyPr/>
          <a:lstStyle/>
          <a:p>
            <a:r>
              <a:rPr lang="es-ES_tradnl" noProof="1"/>
              <a:t>Los modelos fundacionales pueden generar alucinaciones o respuestas inexactas cuando carecen de información contextual relevante.</a:t>
            </a:r>
          </a:p>
        </p:txBody>
      </p:sp>
      <p:pic>
        <p:nvPicPr>
          <p:cNvPr id="11266" name="Picture 2" descr="Avianca actualiza su marca y ahora es avianca | Blog NLARENAS.COM">
            <a:extLst>
              <a:ext uri="{FF2B5EF4-FFF2-40B4-BE49-F238E27FC236}">
                <a16:creationId xmlns:a16="http://schemas.microsoft.com/office/drawing/2014/main" id="{BC274FF9-6E8C-21A0-1DDA-0E7C18947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326" y="2362200"/>
            <a:ext cx="37973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hatGPT | Marketplace and Integrations | ThreatConnect">
            <a:extLst>
              <a:ext uri="{FF2B5EF4-FFF2-40B4-BE49-F238E27FC236}">
                <a16:creationId xmlns:a16="http://schemas.microsoft.com/office/drawing/2014/main" id="{510B58B6-0E05-A51A-D0B3-1D62C8B08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326" y="4103490"/>
            <a:ext cx="3797300" cy="111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Cómo utilizar Google Bard para facilitar tu trabajo - Cepymenews">
            <a:extLst>
              <a:ext uri="{FF2B5EF4-FFF2-40B4-BE49-F238E27FC236}">
                <a16:creationId xmlns:a16="http://schemas.microsoft.com/office/drawing/2014/main" id="{F3D5B5F1-47ED-C8F9-296B-BBA3AAB52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177" y="2362200"/>
            <a:ext cx="3306071" cy="1788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Google lanza Gemini 2: la nueva inteligencia artificial con la que dejar  atrás a Apple y ChatGPT">
            <a:extLst>
              <a:ext uri="{FF2B5EF4-FFF2-40B4-BE49-F238E27FC236}">
                <a16:creationId xmlns:a16="http://schemas.microsoft.com/office/drawing/2014/main" id="{7E4DB153-5705-A5D7-87A3-2CDE1A8F2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914" y="3832375"/>
            <a:ext cx="2775120" cy="138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172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3313-5C7B-73D1-E5C7-C8E5CB5B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735FC1-0F1A-DCAD-903E-13C39EDBA1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7</a:t>
            </a:fld>
            <a:endParaRPr lang="es-ES_tradnl" noProof="1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1B7E2B08-9ACB-C9A2-A251-E851CC7EE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PE"/>
              <a:t>Por qué retrieval y memoria son críticos</a:t>
            </a:r>
            <a:endParaRPr lang="es-ES_tradnl" noProof="1"/>
          </a:p>
        </p:txBody>
      </p:sp>
      <p:sp>
        <p:nvSpPr>
          <p:cNvPr id="43010" name="Content Placeholder 4">
            <a:extLst>
              <a:ext uri="{FF2B5EF4-FFF2-40B4-BE49-F238E27FC236}">
                <a16:creationId xmlns:a16="http://schemas.microsoft.com/office/drawing/2014/main" id="{2CE8CEE7-AF05-20E4-E6D2-CD2DBF296A7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241300" y="1176338"/>
            <a:ext cx="11709400" cy="731975"/>
          </a:xfrm>
        </p:spPr>
        <p:txBody>
          <a:bodyPr/>
          <a:lstStyle/>
          <a:p>
            <a:r>
              <a:rPr lang="en-PE"/>
              <a:t>Los LLMs necesitan retrieval y memoria porque el conocimiento paramétrico no es suficiente para sistemas empresariales y agentes persistentes</a:t>
            </a:r>
            <a:endParaRPr lang="es-ES_tradnl" noProof="1"/>
          </a:p>
        </p:txBody>
      </p:sp>
      <p:pic>
        <p:nvPicPr>
          <p:cNvPr id="15" name="Picture 2" descr="Add memory to your Amazon Bedrock AgentCore agent - Amazon Bedrock AgentCore">
            <a:extLst>
              <a:ext uri="{FF2B5EF4-FFF2-40B4-BE49-F238E27FC236}">
                <a16:creationId xmlns:a16="http://schemas.microsoft.com/office/drawing/2014/main" id="{2E5BFE00-9922-F114-3E72-6363CADC2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56" y="2075001"/>
            <a:ext cx="10602287" cy="421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229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D29C-9C4E-6B76-A226-25121E559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547067-7434-2DC1-1617-F5BF8A418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8</a:t>
            </a:fld>
            <a:endParaRPr lang="es-ES_tradnl" noProof="1"/>
          </a:p>
        </p:txBody>
      </p:sp>
      <p:sp>
        <p:nvSpPr>
          <p:cNvPr id="37889" name="Title 4">
            <a:extLst>
              <a:ext uri="{FF2B5EF4-FFF2-40B4-BE49-F238E27FC236}">
                <a16:creationId xmlns:a16="http://schemas.microsoft.com/office/drawing/2014/main" id="{93DEA697-EAE6-8A1F-711B-2E0F61D58E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36720" y="2302538"/>
            <a:ext cx="10954132" cy="1588127"/>
          </a:xfrm>
        </p:spPr>
        <p:txBody>
          <a:bodyPr/>
          <a:lstStyle/>
          <a:p>
            <a:r>
              <a:rPr lang="en-PE" dirty="0"/>
              <a:t>De embeddings a sistemas inteligentes</a:t>
            </a:r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249849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60CF-E3B4-2A6C-C936-572B5191D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E7F2D2-2DE7-2C13-AB55-6384D3DC511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9</a:t>
            </a:fld>
            <a:endParaRPr lang="es-ES_tradnl" noProof="1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8F12751C-DB1E-76CE-7A3A-DD79D9115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Embeddings: cómo la IA representa significado</a:t>
            </a:r>
            <a:endParaRPr lang="es-ES_tradnl" noProof="1"/>
          </a:p>
        </p:txBody>
      </p:sp>
      <p:sp>
        <p:nvSpPr>
          <p:cNvPr id="43010" name="Content Placeholder 4">
            <a:extLst>
              <a:ext uri="{FF2B5EF4-FFF2-40B4-BE49-F238E27FC236}">
                <a16:creationId xmlns:a16="http://schemas.microsoft.com/office/drawing/2014/main" id="{C75ECD05-0758-05B1-FAAE-52583FC08F9A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241300" y="1176339"/>
            <a:ext cx="11347726" cy="841304"/>
          </a:xfrm>
        </p:spPr>
        <p:txBody>
          <a:bodyPr/>
          <a:lstStyle/>
          <a:p>
            <a:r>
              <a:rPr lang="en-PE" dirty="0"/>
              <a:t>Transforman representaciones semanticas llamadas embeddings en representaciones numéricas llamadas vectores.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D40C58D-AC79-7ED0-E101-59C729228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123" y="2184332"/>
            <a:ext cx="9112080" cy="233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36674A91-C719-8D11-E459-52F8B726C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4840357"/>
            <a:ext cx="11347726" cy="841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PE" dirty="0"/>
              <a:t>Los embedding son correlacionadas con los vectores mediante un Modelo Embedding.</a:t>
            </a:r>
          </a:p>
          <a:p>
            <a:pPr>
              <a:spcBef>
                <a:spcPts val="0"/>
              </a:spcBef>
            </a:pPr>
            <a:r>
              <a:rPr lang="en-PE" dirty="0"/>
              <a:t>Los valores numericos son almacenados en un vector store.</a:t>
            </a:r>
          </a:p>
        </p:txBody>
      </p:sp>
    </p:spTree>
    <p:extLst>
      <p:ext uri="{BB962C8B-B14F-4D97-AF65-F5344CB8AC3E}">
        <p14:creationId xmlns:p14="http://schemas.microsoft.com/office/powerpoint/2010/main" val="287907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46B7-6A1E-59AA-37A0-34C2BEC9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C2B334-2276-FF44-EC84-16E51CCDF80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10</a:t>
            </a:fld>
            <a:endParaRPr lang="es-ES_tradnl" noProof="1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4DBE2C5D-91F2-DCC7-BB84-3AD05F6D3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RAG: cómo el LLM accede a tu knowledge base</a:t>
            </a:r>
            <a:endParaRPr lang="es-ES_tradnl" noProof="1"/>
          </a:p>
        </p:txBody>
      </p:sp>
      <p:sp>
        <p:nvSpPr>
          <p:cNvPr id="43010" name="Content Placeholder 4">
            <a:extLst>
              <a:ext uri="{FF2B5EF4-FFF2-40B4-BE49-F238E27FC236}">
                <a16:creationId xmlns:a16="http://schemas.microsoft.com/office/drawing/2014/main" id="{5CEFB083-CACE-2A9C-B24C-8082818CFDA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241300" y="1176339"/>
            <a:ext cx="11613980" cy="781670"/>
          </a:xfrm>
        </p:spPr>
        <p:txBody>
          <a:bodyPr/>
          <a:lstStyle/>
          <a:p>
            <a:r>
              <a:rPr lang="en-PE" dirty="0"/>
              <a:t>RAG es el método para aumentar el conocimiento del LLM con información propia de la empresa — sin reentrenar el modelo.</a:t>
            </a:r>
          </a:p>
          <a:p>
            <a:endParaRPr lang="en-PE" noProof="1"/>
          </a:p>
          <a:p>
            <a:endParaRPr lang="es-ES_tradnl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C7DEF6-30AF-C935-7B96-E92CB2A06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85" y="2332497"/>
            <a:ext cx="10681829" cy="1987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C7FD0C-B027-EFB8-AD25-9BF5672029EC}"/>
              </a:ext>
            </a:extLst>
          </p:cNvPr>
          <p:cNvSpPr txBox="1"/>
          <p:nvPr/>
        </p:nvSpPr>
        <p:spPr>
          <a:xfrm>
            <a:off x="241300" y="4694810"/>
            <a:ext cx="11195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E" dirty="0"/>
              <a:t>RAG preparar tu knowledge base. Los documentos se cargan, se dividen en fragmentos llamados chunks, y cada chunk se transforma en un vector mediante el Embedding Model — ese vector es lo que se almacena en el Vector Store.</a:t>
            </a:r>
          </a:p>
        </p:txBody>
      </p:sp>
    </p:spTree>
    <p:extLst>
      <p:ext uri="{BB962C8B-B14F-4D97-AF65-F5344CB8AC3E}">
        <p14:creationId xmlns:p14="http://schemas.microsoft.com/office/powerpoint/2010/main" val="2295175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CDEDC-CB03-454F-4F00-EE338EDB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14659F-8228-897E-8565-5F2F460409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11</a:t>
            </a:fld>
            <a:endParaRPr lang="es-ES_tradnl" noProof="1"/>
          </a:p>
        </p:txBody>
      </p:sp>
      <p:pic>
        <p:nvPicPr>
          <p:cNvPr id="13316" name="Picture 4" descr="Beyond Basic RAG – Using advanced RAG techniques to build production grade  systems | AWS Builder Center">
            <a:extLst>
              <a:ext uri="{FF2B5EF4-FFF2-40B4-BE49-F238E27FC236}">
                <a16:creationId xmlns:a16="http://schemas.microsoft.com/office/drawing/2014/main" id="{05BD30D1-BB0E-FB76-58F1-F69ABEAFF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417" y="612774"/>
            <a:ext cx="12208417" cy="533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67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2822-7119-D842-F287-93ED463AD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580012-FEB9-894A-EED4-7A77625FBD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12</a:t>
            </a:fld>
            <a:endParaRPr lang="es-ES_tradnl" noProof="1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1ADE8405-81D3-6DC4-107D-FBB2E41836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Memoria: Cómo un LLM recuerda — memoria en tres capas</a:t>
            </a:r>
            <a:endParaRPr lang="es-ES_tradnl" noProof="1"/>
          </a:p>
        </p:txBody>
      </p:sp>
      <p:sp>
        <p:nvSpPr>
          <p:cNvPr id="43010" name="Content Placeholder 4">
            <a:extLst>
              <a:ext uri="{FF2B5EF4-FFF2-40B4-BE49-F238E27FC236}">
                <a16:creationId xmlns:a16="http://schemas.microsoft.com/office/drawing/2014/main" id="{95BD9972-517C-B235-437E-EAAB9F824FE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312807" y="1946774"/>
            <a:ext cx="5074202" cy="3405601"/>
          </a:xfrm>
        </p:spPr>
        <p:txBody>
          <a:bodyPr/>
          <a:lstStyle/>
          <a:p>
            <a:r>
              <a:rPr lang="en-PE" b="1" dirty="0"/>
              <a:t>Memoria de sesión (Short-term): </a:t>
            </a:r>
            <a:r>
              <a:rPr lang="en-PE" dirty="0"/>
              <a:t>El historial de la conversación activa se inyecta directamente como texto en el prompt. Se pierde al cerrar la sesión.</a:t>
            </a:r>
            <a:endParaRPr lang="en-PE" b="1" dirty="0"/>
          </a:p>
          <a:p>
            <a:endParaRPr lang="en-PE" noProof="1"/>
          </a:p>
          <a:p>
            <a:r>
              <a:rPr lang="en-PE" b="1" dirty="0"/>
              <a:t>Memoria persistente (Long-term): </a:t>
            </a:r>
            <a:r>
              <a:rPr lang="en-PE" dirty="0"/>
              <a:t>Las preferencias, nombre e historial de acciones del usuario se consultan por user_id y se inyectan como texto estructurado en el prompt. Se carga al inicio de cada sesión y se actualiza al cerrar.</a:t>
            </a:r>
            <a:endParaRPr lang="es-ES_tradnl" noProof="1"/>
          </a:p>
        </p:txBody>
      </p:sp>
      <p:pic>
        <p:nvPicPr>
          <p:cNvPr id="7172" name="Picture 4" descr="Memory-augmented agents - AWS Prescriptive Guidance">
            <a:extLst>
              <a:ext uri="{FF2B5EF4-FFF2-40B4-BE49-F238E27FC236}">
                <a16:creationId xmlns:a16="http://schemas.microsoft.com/office/drawing/2014/main" id="{FC6115F1-D808-F5D5-3027-D6F0554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752" y="1196370"/>
            <a:ext cx="6416948" cy="4906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769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04EEF-DE03-09BC-B141-1891C095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B69145-920D-65C6-CF19-8B049B3CA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13</a:t>
            </a:fld>
            <a:endParaRPr lang="es-ES_tradnl" noProof="1"/>
          </a:p>
        </p:txBody>
      </p:sp>
      <p:sp>
        <p:nvSpPr>
          <p:cNvPr id="45057" name="Title 5">
            <a:extLst>
              <a:ext uri="{FF2B5EF4-FFF2-40B4-BE49-F238E27FC236}">
                <a16:creationId xmlns:a16="http://schemas.microsoft.com/office/drawing/2014/main" id="{E5B5D82F-6283-3F86-8DD3-7E1387FA61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36720" y="2302537"/>
            <a:ext cx="9904560" cy="1588127"/>
          </a:xfrm>
        </p:spPr>
        <p:txBody>
          <a:bodyPr/>
          <a:lstStyle/>
          <a:p>
            <a:r>
              <a:rPr lang="en-PE" dirty="0"/>
              <a:t>Soluciones AWS para Vector Store y Memory</a:t>
            </a:r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241244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50AC8-EDC4-36D1-B9CB-01380262E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9E0BDF-68EE-AAD7-752B-CD8FA46BF7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14</a:t>
            </a:fld>
            <a:endParaRPr lang="es-ES_tradnl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055554-8341-DDFD-277B-9188F89B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Servicios de Bases de Datos para:</a:t>
            </a:r>
            <a:endParaRPr lang="es-ES_tradnl" noProof="1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D3A508-E7C7-7A4C-8B01-60F5AABE89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6980" y="1610997"/>
            <a:ext cx="1647445" cy="408715"/>
          </a:xfrm>
        </p:spPr>
        <p:txBody>
          <a:bodyPr/>
          <a:lstStyle/>
          <a:p>
            <a:r>
              <a:rPr lang="es-ES_tradnl" b="1" noProof="1"/>
              <a:t>Vector Store</a:t>
            </a:r>
          </a:p>
          <a:p>
            <a:endParaRPr lang="es-ES_tradnl" noProof="1"/>
          </a:p>
        </p:txBody>
      </p:sp>
      <p:pic>
        <p:nvPicPr>
          <p:cNvPr id="4" name="Graphic 14" descr="Amazon OpenSearch Service service icon.">
            <a:extLst>
              <a:ext uri="{FF2B5EF4-FFF2-40B4-BE49-F238E27FC236}">
                <a16:creationId xmlns:a16="http://schemas.microsoft.com/office/drawing/2014/main" id="{6A283EB9-D38A-13AE-6CBF-427D3AA96FC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1738426" y="279952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0">
            <a:extLst>
              <a:ext uri="{FF2B5EF4-FFF2-40B4-BE49-F238E27FC236}">
                <a16:creationId xmlns:a16="http://schemas.microsoft.com/office/drawing/2014/main" id="{AF08FBFC-3BAC-57DC-FD00-72D1EFFC8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157" y="3561521"/>
            <a:ext cx="22685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OpenSearch Service</a:t>
            </a:r>
          </a:p>
        </p:txBody>
      </p:sp>
      <p:pic>
        <p:nvPicPr>
          <p:cNvPr id="6" name="Graphic 7" descr="Amazon Aurora service icon.">
            <a:extLst>
              <a:ext uri="{FF2B5EF4-FFF2-40B4-BE49-F238E27FC236}">
                <a16:creationId xmlns:a16="http://schemas.microsoft.com/office/drawing/2014/main" id="{67A6E47D-EC4D-8313-69D6-946CFBCAD9DC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3984299" y="278800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35B0EBBB-6D50-94D6-4977-94A7DF1AE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4999" y="3551594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Aurora</a:t>
            </a:r>
          </a:p>
        </p:txBody>
      </p:sp>
      <p:pic>
        <p:nvPicPr>
          <p:cNvPr id="9" name="Graphic 23" descr="Amazon DynamoDB service icon.">
            <a:extLst>
              <a:ext uri="{FF2B5EF4-FFF2-40B4-BE49-F238E27FC236}">
                <a16:creationId xmlns:a16="http://schemas.microsoft.com/office/drawing/2014/main" id="{681F7916-4CB3-37AB-CCEA-E70048E1C65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1744484" y="421593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026F3969-82F1-0FEF-2EAD-A97BBFBDB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772" y="4979526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pic>
        <p:nvPicPr>
          <p:cNvPr id="13" name="Graphic 8" descr="Amazon Simple Storage Service (Amazon S3) service icon.">
            <a:extLst>
              <a:ext uri="{FF2B5EF4-FFF2-40B4-BE49-F238E27FC236}">
                <a16:creationId xmlns:a16="http://schemas.microsoft.com/office/drawing/2014/main" id="{BB3F6382-ECCB-E66E-8214-9AEA82A54CB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3993469" y="424201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C45F3E52-151E-0C46-BFF0-F1063C6F1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694" y="5005603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17" name="Graphic 23" descr="Amazon DynamoDB service icon.">
            <a:extLst>
              <a:ext uri="{FF2B5EF4-FFF2-40B4-BE49-F238E27FC236}">
                <a16:creationId xmlns:a16="http://schemas.microsoft.com/office/drawing/2014/main" id="{93B3CA35-8C54-3050-4149-2CDE21EA925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6960421" y="278800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2">
            <a:extLst>
              <a:ext uri="{FF2B5EF4-FFF2-40B4-BE49-F238E27FC236}">
                <a16:creationId xmlns:a16="http://schemas.microsoft.com/office/drawing/2014/main" id="{4BF66A37-5E5E-219E-5069-998D9D15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2709" y="3551594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pic>
        <p:nvPicPr>
          <p:cNvPr id="22" name="Graphic 21" descr="Amazon ElastiCache service icon.">
            <a:extLst>
              <a:ext uri="{FF2B5EF4-FFF2-40B4-BE49-F238E27FC236}">
                <a16:creationId xmlns:a16="http://schemas.microsoft.com/office/drawing/2014/main" id="{D2A36EC8-BCCE-FB8B-EDFD-2EA3B60F419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9174543" y="279952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15">
            <a:extLst>
              <a:ext uri="{FF2B5EF4-FFF2-40B4-BE49-F238E27FC236}">
                <a16:creationId xmlns:a16="http://schemas.microsoft.com/office/drawing/2014/main" id="{2BD1E928-9FEF-46A0-F690-9C2359C6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580" y="3563108"/>
            <a:ext cx="2201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ElastiCache</a:t>
            </a:r>
          </a:p>
        </p:txBody>
      </p:sp>
      <p:pic>
        <p:nvPicPr>
          <p:cNvPr id="24" name="Graphic 23" descr="Amazon Bedrock service icon.">
            <a:extLst>
              <a:ext uri="{FF2B5EF4-FFF2-40B4-BE49-F238E27FC236}">
                <a16:creationId xmlns:a16="http://schemas.microsoft.com/office/drawing/2014/main" id="{6E7AA474-0257-25C2-03B2-520F6FB619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976275" y="4242016"/>
            <a:ext cx="762000" cy="762000"/>
          </a:xfrm>
          <a:prstGeom prst="rect">
            <a:avLst/>
          </a:prstGeom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B4775AC-697D-7E22-24E9-FD46A6536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703" y="5005603"/>
            <a:ext cx="22788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</p:txBody>
      </p:sp>
      <p:cxnSp>
        <p:nvCxnSpPr>
          <p:cNvPr id="26" name="Straight Connector 25" descr="Next service icon.">
            <a:extLst>
              <a:ext uri="{FF2B5EF4-FFF2-40B4-BE49-F238E27FC236}">
                <a16:creationId xmlns:a16="http://schemas.microsoft.com/office/drawing/2014/main" id="{FFDA2004-42AC-FF0D-E7B4-5339D249ED8B}"/>
              </a:ext>
            </a:extLst>
          </p:cNvPr>
          <p:cNvCxnSpPr/>
          <p:nvPr/>
        </p:nvCxnSpPr>
        <p:spPr>
          <a:xfrm>
            <a:off x="6096000" y="1218371"/>
            <a:ext cx="0" cy="4913313"/>
          </a:xfrm>
          <a:prstGeom prst="line">
            <a:avLst/>
          </a:prstGeom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610C2481-9DC4-2F8A-F06F-B18ACA3F5852}"/>
              </a:ext>
            </a:extLst>
          </p:cNvPr>
          <p:cNvSpPr txBox="1">
            <a:spLocks/>
          </p:cNvSpPr>
          <p:nvPr/>
        </p:nvSpPr>
        <p:spPr bwMode="auto">
          <a:xfrm>
            <a:off x="7933765" y="1621274"/>
            <a:ext cx="1111578" cy="408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noProof="1"/>
              <a:t>Memory</a:t>
            </a:r>
          </a:p>
          <a:p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3828655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4720-01D1-F64B-002D-C5F4C94A2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505D95-64A5-852E-5921-BCC004979A7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15</a:t>
            </a:fld>
            <a:endParaRPr lang="es-ES_tradnl" noProof="1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17B06C2D-3E70-3065-2449-BF1860A33B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RAG with Amazon Bedrock and PGVector on Amazon RDS</a:t>
            </a:r>
          </a:p>
        </p:txBody>
      </p:sp>
      <p:pic>
        <p:nvPicPr>
          <p:cNvPr id="8194" name="Picture 2" descr="Architecture">
            <a:hlinkClick r:id="rId2"/>
            <a:extLst>
              <a:ext uri="{FF2B5EF4-FFF2-40B4-BE49-F238E27FC236}">
                <a16:creationId xmlns:a16="http://schemas.microsoft.com/office/drawing/2014/main" id="{79C5C871-0F53-989F-BFCB-ADEE5B5D7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47" y="1187344"/>
            <a:ext cx="10602569" cy="5284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2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5181-9D42-FECF-50A3-AC888772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9AD2C2-9C98-0AB6-A69A-547EAF0BB8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16</a:t>
            </a:fld>
            <a:endParaRPr lang="es-ES_tradnl" noProof="1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70A032FA-037B-4CBD-4DBF-2066AA262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RAG with Amazon Bedrock and OpenSearch</a:t>
            </a:r>
          </a:p>
        </p:txBody>
      </p:sp>
      <p:pic>
        <p:nvPicPr>
          <p:cNvPr id="15362" name="Picture 2" descr="Architecture">
            <a:hlinkClick r:id="rId2"/>
            <a:extLst>
              <a:ext uri="{FF2B5EF4-FFF2-40B4-BE49-F238E27FC236}">
                <a16:creationId xmlns:a16="http://schemas.microsoft.com/office/drawing/2014/main" id="{4A60FCDB-8EA3-4344-8D0E-BB53F7F66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056" y="1009650"/>
            <a:ext cx="10936224" cy="534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365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D8304-D826-A77D-DA62-58F9DB290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25012-BFAF-7EF9-021B-172F287B00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17</a:t>
            </a:fld>
            <a:endParaRPr lang="es-ES_tradnl" noProof="1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5CE19EC6-3B9F-F45B-395B-823B1EF9F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365125"/>
            <a:ext cx="11709400" cy="767570"/>
          </a:xfrm>
        </p:spPr>
        <p:txBody>
          <a:bodyPr/>
          <a:lstStyle/>
          <a:p>
            <a:r>
              <a:rPr lang="en-PE" dirty="0"/>
              <a:t>Managing Chat History and Context at scale in Generative AI Chatbots</a:t>
            </a:r>
          </a:p>
        </p:txBody>
      </p:sp>
      <p:pic>
        <p:nvPicPr>
          <p:cNvPr id="16386" name="Picture 2" descr="rchitecture">
            <a:hlinkClick r:id="rId2"/>
            <a:extLst>
              <a:ext uri="{FF2B5EF4-FFF2-40B4-BE49-F238E27FC236}">
                <a16:creationId xmlns:a16="http://schemas.microsoft.com/office/drawing/2014/main" id="{CB963A9E-FB1C-EC6C-F969-3F73FD74E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567" y="1132695"/>
            <a:ext cx="8682866" cy="5606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038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5E3D-6ED5-BB1D-C7AA-279C6ABC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913209-6F6C-7A05-A097-4EAE1368B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18</a:t>
            </a:fld>
            <a:endParaRPr lang="es-ES_tradnl" noProof="1"/>
          </a:p>
        </p:txBody>
      </p:sp>
      <p:sp>
        <p:nvSpPr>
          <p:cNvPr id="45057" name="Title 5">
            <a:extLst>
              <a:ext uri="{FF2B5EF4-FFF2-40B4-BE49-F238E27FC236}">
                <a16:creationId xmlns:a16="http://schemas.microsoft.com/office/drawing/2014/main" id="{3BE55F2B-B26B-6103-428E-48A55A466DD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36720" y="3050434"/>
            <a:ext cx="9904560" cy="840230"/>
          </a:xfrm>
        </p:spPr>
        <p:txBody>
          <a:bodyPr/>
          <a:lstStyle/>
          <a:p>
            <a:r>
              <a:rPr lang="en-PE" dirty="0"/>
              <a:t>Demo</a:t>
            </a:r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352341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D0928-28AF-BBBD-844F-0800BF344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5A4C7F-FD65-48F7-DBA0-F5084702E0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19</a:t>
            </a:fld>
            <a:endParaRPr lang="es-ES_tradnl" noProof="1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A27254F-75E9-1F57-879D-3250837A7480}"/>
              </a:ext>
            </a:extLst>
          </p:cNvPr>
          <p:cNvSpPr txBox="1">
            <a:spLocks/>
          </p:cNvSpPr>
          <p:nvPr/>
        </p:nvSpPr>
        <p:spPr bwMode="auto">
          <a:xfrm>
            <a:off x="459602" y="1645596"/>
            <a:ext cx="10711980" cy="3566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defRPr sz="2400" kern="1200">
                <a:solidFill>
                  <a:srgbClr val="161E2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sz="2000" kern="1200">
                <a:solidFill>
                  <a:srgbClr val="161E2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rgbClr val="161E2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sz="1600" kern="1200">
                <a:solidFill>
                  <a:srgbClr val="161E2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E" b="1" dirty="0"/>
              <a:t>FinCorp tiene 200 asesores</a:t>
            </a:r>
            <a:r>
              <a:rPr lang="en-PE" dirty="0"/>
              <a:t> que pierden 30-40 minutos por día buscando en PDFs de políticas de compliance, manuales KYC y procedimientos AML dispersos en carpetas compartidas.</a:t>
            </a:r>
          </a:p>
          <a:p>
            <a:r>
              <a:rPr lang="en-PE" dirty="0"/>
              <a:t>  </a:t>
            </a:r>
          </a:p>
          <a:p>
            <a:r>
              <a:rPr lang="en-PE" dirty="0"/>
              <a:t>El asistente les permite hacer la pregunta en lenguaje natural y obtener la respuesta con la fuente exacta en segundos. Además recuerda qué temas consulta cada asesorfrecuentemente, personalizando las respuestas según su rol y historial.</a:t>
            </a:r>
          </a:p>
          <a:p>
            <a:r>
              <a:rPr lang="en-PE" dirty="0"/>
              <a:t>  </a:t>
            </a:r>
          </a:p>
          <a:p>
            <a:r>
              <a:rPr lang="en-PE" b="1" dirty="0"/>
              <a:t>Resultado esperado:</a:t>
            </a:r>
            <a:r>
              <a:rPr lang="en-PE" dirty="0"/>
              <a:t> reducir ese tiempo de búsqueda a menos de 1 minuto por consulta.</a:t>
            </a:r>
          </a:p>
        </p:txBody>
      </p:sp>
    </p:spTree>
    <p:extLst>
      <p:ext uri="{BB962C8B-B14F-4D97-AF65-F5344CB8AC3E}">
        <p14:creationId xmlns:p14="http://schemas.microsoft.com/office/powerpoint/2010/main" val="952540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402B2-4B49-7512-2357-35095FEF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6DBCE3FD-38AD-4ACE-69C9-204E4EB9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111" y="1353360"/>
            <a:ext cx="2729319" cy="2519372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58072A0-1BF1-79EC-BD99-719AB0BCC2B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9079128" y="6240073"/>
            <a:ext cx="2743200" cy="365125"/>
          </a:xfrm>
        </p:spPr>
        <p:txBody>
          <a:bodyPr/>
          <a:lstStyle/>
          <a:p>
            <a:fld id="{EB4B8DE2-A4E8-46E4-8BBF-D75455EFF32C}" type="slidenum">
              <a:rPr lang="es-ES_tradnl" noProof="1" smtClean="0"/>
              <a:pPr/>
              <a:t>20</a:t>
            </a:fld>
            <a:endParaRPr lang="es-ES_tradnl" noProof="1"/>
          </a:p>
        </p:txBody>
      </p:sp>
      <p:sp>
        <p:nvSpPr>
          <p:cNvPr id="54273" name="Title 1">
            <a:extLst>
              <a:ext uri="{FF2B5EF4-FFF2-40B4-BE49-F238E27FC236}">
                <a16:creationId xmlns:a16="http://schemas.microsoft.com/office/drawing/2014/main" id="{754955F8-799A-016A-98EA-E06FA4299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365125"/>
            <a:ext cx="3556977" cy="644525"/>
          </a:xfrm>
        </p:spPr>
        <p:txBody>
          <a:bodyPr/>
          <a:lstStyle/>
          <a:p>
            <a:pPr eaLnBrk="1" hangingPunct="1"/>
            <a:r>
              <a:rPr lang="es-ES_tradnl" noProof="1"/>
              <a:t>Arquitectura logica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4949D3-BA47-8238-26D7-D099679D624E}"/>
              </a:ext>
            </a:extLst>
          </p:cNvPr>
          <p:cNvSpPr/>
          <p:nvPr/>
        </p:nvSpPr>
        <p:spPr>
          <a:xfrm>
            <a:off x="4144310" y="4025941"/>
            <a:ext cx="2729319" cy="2190947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 contents</a:t>
            </a:r>
          </a:p>
        </p:txBody>
      </p:sp>
      <p:pic>
        <p:nvPicPr>
          <p:cNvPr id="21" name="Graphic 20" descr="EC2 instance contents group icon. ">
            <a:extLst>
              <a:ext uri="{FF2B5EF4-FFF2-40B4-BE49-F238E27FC236}">
                <a16:creationId xmlns:a16="http://schemas.microsoft.com/office/drawing/2014/main" id="{F6D28124-4824-9737-C4F1-2E8AEC5998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144310" y="4025942"/>
            <a:ext cx="381000" cy="38100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C5E1992-199E-6C89-4B5F-BC9D3115B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97" y="5368812"/>
            <a:ext cx="2226855" cy="38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rand • Streamlit">
            <a:extLst>
              <a:ext uri="{FF2B5EF4-FFF2-40B4-BE49-F238E27FC236}">
                <a16:creationId xmlns:a16="http://schemas.microsoft.com/office/drawing/2014/main" id="{4928B068-19DB-48F0-63C6-9490285DA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97" y="4592644"/>
            <a:ext cx="2226855" cy="61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phic 23" descr="Amazon DynamoDB service icon.">
            <a:extLst>
              <a:ext uri="{FF2B5EF4-FFF2-40B4-BE49-F238E27FC236}">
                <a16:creationId xmlns:a16="http://schemas.microsoft.com/office/drawing/2014/main" id="{EA6447AB-CC20-205B-0346-80DFA569684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9447744" y="347779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0DCAF004-8287-1679-557C-B1256C85A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0032" y="4241379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pic>
        <p:nvPicPr>
          <p:cNvPr id="29" name="Graphic 7" descr="Amazon Aurora service icon.">
            <a:extLst>
              <a:ext uri="{FF2B5EF4-FFF2-40B4-BE49-F238E27FC236}">
                <a16:creationId xmlns:a16="http://schemas.microsoft.com/office/drawing/2014/main" id="{77E62DB3-3288-AD52-9A8B-15F0E2A5BE4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1625927" y="501640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Box 9">
            <a:extLst>
              <a:ext uri="{FF2B5EF4-FFF2-40B4-BE49-F238E27FC236}">
                <a16:creationId xmlns:a16="http://schemas.microsoft.com/office/drawing/2014/main" id="{C8DDC808-45AB-5385-90F0-D885D9B76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557" y="5778408"/>
            <a:ext cx="22431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Aurora Postgres</a:t>
            </a:r>
          </a:p>
          <a:p>
            <a:pPr algn="ctr" eaLnBrk="1" hangingPunct="1"/>
            <a:r>
              <a:rPr lang="en-US" altLang="en-US" sz="12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pgvector</a:t>
            </a:r>
            <a:endParaRPr lang="en-US" altLang="en-US" sz="12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Graphic 21" descr="Amazon ElastiCache service icon.">
            <a:extLst>
              <a:ext uri="{FF2B5EF4-FFF2-40B4-BE49-F238E27FC236}">
                <a16:creationId xmlns:a16="http://schemas.microsoft.com/office/drawing/2014/main" id="{B1E10375-E441-5513-C07F-C5DC8D53FD7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9493782" y="476087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5">
            <a:extLst>
              <a:ext uri="{FF2B5EF4-FFF2-40B4-BE49-F238E27FC236}">
                <a16:creationId xmlns:a16="http://schemas.microsoft.com/office/drawing/2014/main" id="{699856D1-3201-EF9E-B7A8-B6EEA73D5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7819" y="5524465"/>
            <a:ext cx="2201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ElastiCache</a:t>
            </a:r>
          </a:p>
        </p:txBody>
      </p:sp>
      <p:pic>
        <p:nvPicPr>
          <p:cNvPr id="34" name="Graphic 6" descr="General resource icon.">
            <a:extLst>
              <a:ext uri="{FF2B5EF4-FFF2-40B4-BE49-F238E27FC236}">
                <a16:creationId xmlns:a16="http://schemas.microsoft.com/office/drawing/2014/main" id="{036DA763-AC32-AB50-E716-1C6356AEB99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 flipH="1">
            <a:off x="5221791" y="685601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label6">
            <a:extLst>
              <a:ext uri="{FF2B5EF4-FFF2-40B4-BE49-F238E27FC236}">
                <a16:creationId xmlns:a16="http://schemas.microsoft.com/office/drawing/2014/main" id="{B62BE8DD-F0D5-69DC-1A05-71B51C8D0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5221" y="1132373"/>
            <a:ext cx="6630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39" name="Graphic 38" descr="Amazon Bedrock service icon.">
            <a:extLst>
              <a:ext uri="{FF2B5EF4-FFF2-40B4-BE49-F238E27FC236}">
                <a16:creationId xmlns:a16="http://schemas.microsoft.com/office/drawing/2014/main" id="{D7A42E00-5E43-3940-F7F6-2B234A437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366552" y="1277571"/>
            <a:ext cx="762000" cy="762000"/>
          </a:xfrm>
          <a:prstGeom prst="rect">
            <a:avLst/>
          </a:prstGeom>
        </p:spPr>
      </p:pic>
      <p:sp>
        <p:nvSpPr>
          <p:cNvPr id="40" name="TextBox 12">
            <a:extLst>
              <a:ext uri="{FF2B5EF4-FFF2-40B4-BE49-F238E27FC236}">
                <a16:creationId xmlns:a16="http://schemas.microsoft.com/office/drawing/2014/main" id="{B3ED1E32-99CC-8E44-EAC4-22A89F82C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0980" y="2041158"/>
            <a:ext cx="22788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LLM</a:t>
            </a:r>
          </a:p>
        </p:txBody>
      </p:sp>
      <p:pic>
        <p:nvPicPr>
          <p:cNvPr id="41" name="Graphic 16" descr="Documents resource icon for the General Icons category.">
            <a:extLst>
              <a:ext uri="{FF2B5EF4-FFF2-40B4-BE49-F238E27FC236}">
                <a16:creationId xmlns:a16="http://schemas.microsoft.com/office/drawing/2014/main" id="{62C3765B-9623-19F7-52C9-5FC0AC53847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1387518" y="149758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33">
            <a:extLst>
              <a:ext uri="{FF2B5EF4-FFF2-40B4-BE49-F238E27FC236}">
                <a16:creationId xmlns:a16="http://schemas.microsoft.com/office/drawing/2014/main" id="{6E4C9FEF-DA1E-8FA1-7193-8E6D1275F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170" y="2019939"/>
            <a:ext cx="1073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Documents</a:t>
            </a:r>
          </a:p>
        </p:txBody>
      </p:sp>
      <p:pic>
        <p:nvPicPr>
          <p:cNvPr id="43" name="Graphic 16" descr="Documents resource icon for the General Icons category.">
            <a:extLst>
              <a:ext uri="{FF2B5EF4-FFF2-40B4-BE49-F238E27FC236}">
                <a16:creationId xmlns:a16="http://schemas.microsoft.com/office/drawing/2014/main" id="{EC40FC4E-BFB9-2D84-E026-09815CB459F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2428606" y="150264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33">
            <a:extLst>
              <a:ext uri="{FF2B5EF4-FFF2-40B4-BE49-F238E27FC236}">
                <a16:creationId xmlns:a16="http://schemas.microsoft.com/office/drawing/2014/main" id="{461A59D6-0013-AE5E-530B-A8CE8185B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258" y="2025007"/>
            <a:ext cx="1073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Documents</a:t>
            </a:r>
          </a:p>
        </p:txBody>
      </p:sp>
      <p:pic>
        <p:nvPicPr>
          <p:cNvPr id="47" name="Graphic 46" descr="Amazon Bedrock service icon.">
            <a:extLst>
              <a:ext uri="{FF2B5EF4-FFF2-40B4-BE49-F238E27FC236}">
                <a16:creationId xmlns:a16="http://schemas.microsoft.com/office/drawing/2014/main" id="{07167258-67A9-1A6F-3B73-FE2E8987E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680129" y="3048000"/>
            <a:ext cx="762000" cy="762000"/>
          </a:xfrm>
          <a:prstGeom prst="rect">
            <a:avLst/>
          </a:prstGeom>
        </p:spPr>
      </p:pic>
      <p:sp>
        <p:nvSpPr>
          <p:cNvPr id="48" name="TextBox 12">
            <a:extLst>
              <a:ext uri="{FF2B5EF4-FFF2-40B4-BE49-F238E27FC236}">
                <a16:creationId xmlns:a16="http://schemas.microsoft.com/office/drawing/2014/main" id="{45F5C21F-9BF9-24A8-F1C2-8D2E6D089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557" y="3811587"/>
            <a:ext cx="227885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Model Embedding</a:t>
            </a:r>
          </a:p>
          <a:p>
            <a:pPr algn="ctr" eaLnBrk="1" hangingPunct="1"/>
            <a:r>
              <a:rPr lang="en-PE" sz="1200" dirty="0"/>
              <a:t>amazon.titan-embed-text-v2:0</a:t>
            </a:r>
          </a:p>
        </p:txBody>
      </p:sp>
      <p:sp>
        <p:nvSpPr>
          <p:cNvPr id="49" name="Rectangle 48" descr="Generic group.">
            <a:extLst>
              <a:ext uri="{FF2B5EF4-FFF2-40B4-BE49-F238E27FC236}">
                <a16:creationId xmlns:a16="http://schemas.microsoft.com/office/drawing/2014/main" id="{A2272B14-8985-593E-7820-D6713C0EAF2C}"/>
              </a:ext>
            </a:extLst>
          </p:cNvPr>
          <p:cNvSpPr/>
          <p:nvPr/>
        </p:nvSpPr>
        <p:spPr>
          <a:xfrm>
            <a:off x="809967" y="1100713"/>
            <a:ext cx="2502323" cy="1418518"/>
          </a:xfrm>
          <a:prstGeom prst="rect">
            <a:avLst/>
          </a:prstGeom>
          <a:noFill/>
          <a:ln w="15875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</a:p>
        </p:txBody>
      </p:sp>
      <p:cxnSp>
        <p:nvCxnSpPr>
          <p:cNvPr id="50" name="Straight Arrow Connector 49" descr="Arrow pointing left.">
            <a:extLst>
              <a:ext uri="{FF2B5EF4-FFF2-40B4-BE49-F238E27FC236}">
                <a16:creationId xmlns:a16="http://schemas.microsoft.com/office/drawing/2014/main" id="{B476CDBB-76D3-B20D-2C50-72A14B921946}"/>
              </a:ext>
            </a:extLst>
          </p:cNvPr>
          <p:cNvCxnSpPr>
            <a:cxnSpLocks/>
            <a:stCxn id="47" idx="0"/>
            <a:endCxn id="49" idx="2"/>
          </p:cNvCxnSpPr>
          <p:nvPr/>
        </p:nvCxnSpPr>
        <p:spPr>
          <a:xfrm flipV="1">
            <a:off x="2061129" y="2519231"/>
            <a:ext cx="0" cy="52876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 descr="Arrow pointing left.">
            <a:extLst>
              <a:ext uri="{FF2B5EF4-FFF2-40B4-BE49-F238E27FC236}">
                <a16:creationId xmlns:a16="http://schemas.microsoft.com/office/drawing/2014/main" id="{5B8670D6-3050-D803-8A75-6D370E6A1ED4}"/>
              </a:ext>
            </a:extLst>
          </p:cNvPr>
          <p:cNvCxnSpPr>
            <a:cxnSpLocks/>
          </p:cNvCxnSpPr>
          <p:nvPr/>
        </p:nvCxnSpPr>
        <p:spPr>
          <a:xfrm flipV="1">
            <a:off x="2036777" y="4410857"/>
            <a:ext cx="0" cy="52876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 descr="Arrow pointing left.">
            <a:extLst>
              <a:ext uri="{FF2B5EF4-FFF2-40B4-BE49-F238E27FC236}">
                <a16:creationId xmlns:a16="http://schemas.microsoft.com/office/drawing/2014/main" id="{DC8A6DDA-FA4C-1F5B-652E-4DBA43AD5363}"/>
              </a:ext>
            </a:extLst>
          </p:cNvPr>
          <p:cNvCxnSpPr>
            <a:cxnSpLocks/>
          </p:cNvCxnSpPr>
          <p:nvPr/>
        </p:nvCxnSpPr>
        <p:spPr>
          <a:xfrm flipV="1">
            <a:off x="5469195" y="1426011"/>
            <a:ext cx="0" cy="52876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 descr="Arrow pointing left.">
            <a:extLst>
              <a:ext uri="{FF2B5EF4-FFF2-40B4-BE49-F238E27FC236}">
                <a16:creationId xmlns:a16="http://schemas.microsoft.com/office/drawing/2014/main" id="{E8B9278A-40E5-8DF7-9136-27A16C13EAC2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5508970" y="3221823"/>
            <a:ext cx="0" cy="804118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 descr="Arrow pointing left.">
            <a:extLst>
              <a:ext uri="{FF2B5EF4-FFF2-40B4-BE49-F238E27FC236}">
                <a16:creationId xmlns:a16="http://schemas.microsoft.com/office/drawing/2014/main" id="{29BDC8F4-AF22-D782-0DBF-8CD63D6BCF4A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2442129" y="3478306"/>
            <a:ext cx="1702181" cy="1643109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 descr="Arrow pointing left.">
            <a:extLst>
              <a:ext uri="{FF2B5EF4-FFF2-40B4-BE49-F238E27FC236}">
                <a16:creationId xmlns:a16="http://schemas.microsoft.com/office/drawing/2014/main" id="{8DD77BED-0179-7953-8AC6-DF697ED438A5}"/>
              </a:ext>
            </a:extLst>
          </p:cNvPr>
          <p:cNvCxnSpPr>
            <a:cxnSpLocks/>
            <a:stCxn id="29" idx="3"/>
            <a:endCxn id="20" idx="1"/>
          </p:cNvCxnSpPr>
          <p:nvPr/>
        </p:nvCxnSpPr>
        <p:spPr>
          <a:xfrm flipV="1">
            <a:off x="2387927" y="5121415"/>
            <a:ext cx="1756383" cy="275992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79" name="Straight Arrow Connector 54278" descr="Arrow pointing left.">
            <a:extLst>
              <a:ext uri="{FF2B5EF4-FFF2-40B4-BE49-F238E27FC236}">
                <a16:creationId xmlns:a16="http://schemas.microsoft.com/office/drawing/2014/main" id="{C3CAAEB3-4B0D-6993-4166-1FBFE63C861C}"/>
              </a:ext>
            </a:extLst>
          </p:cNvPr>
          <p:cNvCxnSpPr>
            <a:cxnSpLocks/>
            <a:stCxn id="32" idx="1"/>
            <a:endCxn id="20" idx="3"/>
          </p:cNvCxnSpPr>
          <p:nvPr/>
        </p:nvCxnSpPr>
        <p:spPr>
          <a:xfrm flipH="1" flipV="1">
            <a:off x="6873629" y="5121415"/>
            <a:ext cx="2620153" cy="20463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85" name="Straight Arrow Connector 54284" descr="Arrow pointing left.">
            <a:extLst>
              <a:ext uri="{FF2B5EF4-FFF2-40B4-BE49-F238E27FC236}">
                <a16:creationId xmlns:a16="http://schemas.microsoft.com/office/drawing/2014/main" id="{CB260D02-6DEA-535B-65F3-98430B8E03C4}"/>
              </a:ext>
            </a:extLst>
          </p:cNvPr>
          <p:cNvCxnSpPr>
            <a:cxnSpLocks/>
            <a:stCxn id="24" idx="1"/>
            <a:endCxn id="20" idx="3"/>
          </p:cNvCxnSpPr>
          <p:nvPr/>
        </p:nvCxnSpPr>
        <p:spPr>
          <a:xfrm flipH="1">
            <a:off x="6873629" y="3858792"/>
            <a:ext cx="2574115" cy="1262623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88" name="Straight Arrow Connector 54287" descr="Arrow pointing left.">
            <a:extLst>
              <a:ext uri="{FF2B5EF4-FFF2-40B4-BE49-F238E27FC236}">
                <a16:creationId xmlns:a16="http://schemas.microsoft.com/office/drawing/2014/main" id="{02100F52-E133-1CB0-DA6E-08FBB534B970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6860939" y="1658571"/>
            <a:ext cx="2505613" cy="3463025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659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8CC5A-6B29-62D1-552F-B9F8A7E4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39A8E-969B-1ABF-9B67-F681BF056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21</a:t>
            </a:fld>
            <a:endParaRPr lang="es-ES_tradnl" noProof="1"/>
          </a:p>
        </p:txBody>
      </p:sp>
      <p:sp>
        <p:nvSpPr>
          <p:cNvPr id="45057" name="Title 5">
            <a:extLst>
              <a:ext uri="{FF2B5EF4-FFF2-40B4-BE49-F238E27FC236}">
                <a16:creationId xmlns:a16="http://schemas.microsoft.com/office/drawing/2014/main" id="{600BFF86-FA64-4102-556D-501C355BF64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36720" y="3050434"/>
            <a:ext cx="9904560" cy="840230"/>
          </a:xfrm>
        </p:spPr>
        <p:txBody>
          <a:bodyPr/>
          <a:lstStyle/>
          <a:p>
            <a:r>
              <a:rPr lang="en-PE" dirty="0"/>
              <a:t>Conclusiones</a:t>
            </a:r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126529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278B-D23B-B9C5-321E-4B9B5C86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1F6967-6C6F-A2F5-AD77-558D0192CB2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s-ES_tradnl" noProof="1" smtClean="0"/>
              <a:pPr/>
              <a:t>22</a:t>
            </a:fld>
            <a:endParaRPr lang="es-ES_tradnl" noProof="1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484F622-76DA-FBD2-0388-27B2DF246FC6}"/>
              </a:ext>
            </a:extLst>
          </p:cNvPr>
          <p:cNvSpPr txBox="1">
            <a:spLocks/>
          </p:cNvSpPr>
          <p:nvPr/>
        </p:nvSpPr>
        <p:spPr bwMode="auto">
          <a:xfrm>
            <a:off x="459602" y="1645596"/>
            <a:ext cx="10711980" cy="3566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defRPr sz="2400" kern="1200">
                <a:solidFill>
                  <a:srgbClr val="161E2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sz="2000" kern="1200">
                <a:solidFill>
                  <a:srgbClr val="161E2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rgbClr val="161E2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defRPr sz="1600" kern="1200">
                <a:solidFill>
                  <a:srgbClr val="161E2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PE" sz="1800" b="1" dirty="0"/>
              <a:t>El LLM solo es tan inteligente como el contexto que recibe.</a:t>
            </a:r>
            <a:r>
              <a:rPr lang="en-PE" sz="1800" dirty="0"/>
              <a:t> El modelo en sí no cambia — lo que cambia es cuánto contexto relevante le das. Embeddings, RAG y memoria son las capas que construyen ese contexto.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E" sz="1800" b="1" dirty="0"/>
              <a:t>Embeddings son el lenguaje común entre tu información y el LLM.</a:t>
            </a:r>
            <a:r>
              <a:rPr lang="en-PE" sz="1800" dirty="0"/>
              <a:t> Sin embeddings no hay búsqueda semántica. Sin búsqueda semántica no hay RAG. Todo parte de convertir significado en matemática.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E" sz="1800" b="1" dirty="0"/>
              <a:t>RAG es la forma más pragmática de llevar conocimiento empresarial al LLM.</a:t>
            </a:r>
            <a:r>
              <a:rPr lang="en-PE" sz="1800" dirty="0"/>
              <a:t> Sin reentrenar el modelo, sin fine-tuning costoso — solo indexas tus documentos y el LLM responde con tu información actualizada en tiempo real.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E" sz="1800" b="1" dirty="0"/>
              <a:t>La memoria no es una sola cosa — es multipropósitos.</a:t>
            </a:r>
            <a:r>
              <a:rPr lang="en-PE" sz="1800" dirty="0"/>
              <a:t> Sesión para el presente, persistente para el usuario, semántica para el largo plazo. Cada una resuelve un problema diferente y usa un storage diferente.</a:t>
            </a:r>
          </a:p>
        </p:txBody>
      </p:sp>
    </p:spTree>
    <p:extLst>
      <p:ext uri="{BB962C8B-B14F-4D97-AF65-F5344CB8AC3E}">
        <p14:creationId xmlns:p14="http://schemas.microsoft.com/office/powerpoint/2010/main" val="4025877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Light-Background-Master">
  <a:themeElements>
    <a:clrScheme name="Architecture Icons Light Background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ED7100"/>
      </a:accent1>
      <a:accent2>
        <a:srgbClr val="037F0C"/>
      </a:accent2>
      <a:accent3>
        <a:srgbClr val="D91515"/>
      </a:accent3>
      <a:accent4>
        <a:srgbClr val="F2F3F3"/>
      </a:accent4>
      <a:accent5>
        <a:srgbClr val="D5DBDB"/>
      </a:accent5>
      <a:accent6>
        <a:srgbClr val="0971D3"/>
      </a:accent6>
      <a:hlink>
        <a:srgbClr val="0971D3"/>
      </a:hlink>
      <a:folHlink>
        <a:srgbClr val="0971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rk-Background-Master">
  <a:themeElements>
    <a:clrScheme name="Architecture Icons Dark Background">
      <a:dk1>
        <a:srgbClr val="000000"/>
      </a:dk1>
      <a:lt1>
        <a:srgbClr val="FFFFFF"/>
      </a:lt1>
      <a:dk2>
        <a:srgbClr val="232F3E"/>
      </a:dk2>
      <a:lt2>
        <a:srgbClr val="E7E6E6"/>
      </a:lt2>
      <a:accent1>
        <a:srgbClr val="FF9900"/>
      </a:accent1>
      <a:accent2>
        <a:srgbClr val="28AD32"/>
      </a:accent2>
      <a:accent3>
        <a:srgbClr val="EB6F6F"/>
      </a:accent3>
      <a:accent4>
        <a:srgbClr val="A5A5A5"/>
      </a:accent4>
      <a:accent5>
        <a:srgbClr val="D1D5DB"/>
      </a:accent5>
      <a:accent6>
        <a:srgbClr val="539FE5"/>
      </a:accent6>
      <a:hlink>
        <a:srgbClr val="539FE5"/>
      </a:hlink>
      <a:folHlink>
        <a:srgbClr val="539F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185793</TotalTime>
  <Words>705</Words>
  <Application>Microsoft Macintosh PowerPoint</Application>
  <PresentationFormat>Widescreen</PresentationFormat>
  <Paragraphs>93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Light-Background-Master</vt:lpstr>
      <vt:lpstr>Dark-Background-Master</vt:lpstr>
      <vt:lpstr>Bases de Datos para IA: Embeddings, Búsqueda Semantica y Agentes Inteligentes</vt:lpstr>
      <vt:lpstr>Hassel Muñoz</vt:lpstr>
      <vt:lpstr>Contenido</vt:lpstr>
      <vt:lpstr>Introduction</vt:lpstr>
      <vt:lpstr>Los LLMs no conocen tus datos</vt:lpstr>
      <vt:lpstr>Alucinaciones y falta de contexto</vt:lpstr>
      <vt:lpstr>Por qué retrieval y memoria son críticos</vt:lpstr>
      <vt:lpstr>De embeddings a sistemas inteligentes</vt:lpstr>
      <vt:lpstr>Embeddings: cómo la IA representa significado</vt:lpstr>
      <vt:lpstr>RAG: cómo el LLM accede a tu knowledge base</vt:lpstr>
      <vt:lpstr>PowerPoint Presentation</vt:lpstr>
      <vt:lpstr>Memoria: Cómo un LLM recuerda — memoria en tres capas</vt:lpstr>
      <vt:lpstr>Soluciones AWS para Vector Store y Memory</vt:lpstr>
      <vt:lpstr>Servicios de Bases de Datos para:</vt:lpstr>
      <vt:lpstr>RAG with Amazon Bedrock and PGVector on Amazon RDS</vt:lpstr>
      <vt:lpstr>RAG with Amazon Bedrock and OpenSearch</vt:lpstr>
      <vt:lpstr>Managing Chat History and Context at scale in Generative AI Chatbots</vt:lpstr>
      <vt:lpstr>Demo</vt:lpstr>
      <vt:lpstr>PowerPoint Presentation</vt:lpstr>
      <vt:lpstr>Arquitectura logica</vt:lpstr>
      <vt:lpstr>Conclusiones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Hassel Anthony Muñoz Lezama</cp:lastModifiedBy>
  <cp:revision>3806</cp:revision>
  <dcterms:created xsi:type="dcterms:W3CDTF">2020-03-23T21:46:17Z</dcterms:created>
  <dcterms:modified xsi:type="dcterms:W3CDTF">2026-05-26T01:48:44Z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2025-05-31T04:12:29Z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1811323a-fa7c-41d7-8cba-55d16847bbe1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